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85" r:id="rId5"/>
    <p:sldId id="259" r:id="rId6"/>
    <p:sldId id="286" r:id="rId7"/>
    <p:sldId id="260" r:id="rId8"/>
    <p:sldId id="261" r:id="rId9"/>
    <p:sldId id="263" r:id="rId10"/>
    <p:sldId id="288" r:id="rId11"/>
    <p:sldId id="289" r:id="rId12"/>
    <p:sldId id="290" r:id="rId13"/>
    <p:sldId id="291" r:id="rId14"/>
    <p:sldId id="264" r:id="rId15"/>
    <p:sldId id="267" r:id="rId16"/>
    <p:sldId id="268" r:id="rId17"/>
    <p:sldId id="270" r:id="rId18"/>
    <p:sldId id="271" r:id="rId19"/>
    <p:sldId id="272" r:id="rId20"/>
    <p:sldId id="273" r:id="rId21"/>
    <p:sldId id="274" r:id="rId22"/>
    <p:sldId id="276" r:id="rId23"/>
    <p:sldId id="277" r:id="rId24"/>
    <p:sldId id="281" r:id="rId25"/>
    <p:sldId id="283" r:id="rId26"/>
    <p:sldId id="28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463" autoAdjust="0"/>
  </p:normalViewPr>
  <p:slideViewPr>
    <p:cSldViewPr snapToGrid="0" snapToObjects="1">
      <p:cViewPr varScale="1">
        <p:scale>
          <a:sx n="81" d="100"/>
          <a:sy n="81" d="100"/>
        </p:scale>
        <p:origin x="116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98D0C1-C2ED-41E6-A16A-129D089D71E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EA878-87F4-4811-8C6C-83CB5CDC5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741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Cada boxplot compara </a:t>
            </a:r>
            <a:r>
              <a:rPr lang="pt-BR" b="1" dirty="0"/>
              <a:t>como os valores de uma feature se distribuem entre as três cultivares</a:t>
            </a:r>
            <a:r>
              <a:rPr lang="pt-BR" dirty="0"/>
              <a:t>. Se as caixas estão bem separadas, essa feature é boa para distinguir classes. Se se sobrepõem muito, essa feature sozinha não ajuda tanto. Há features com separação clara suficiente para que os modelos consigam aprender as fronteiras entre classes.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EA878-87F4-4811-8C6C-83CB5CDC59F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866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3BBBD-CB10-B0BE-9419-A6A2DEFD5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8D277-37D2-7133-319F-F10A6FA96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967A1-6054-5A6E-F499-EB71BBFA2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Estes histogramas mostram como os valores de cada feature se distribuem ao longo de todas as amostras. O objetivo é perceber a forma dos dados antes de os alimentar aos modelos.</a:t>
            </a:r>
          </a:p>
          <a:p>
            <a:r>
              <a:rPr lang="pt-BR" dirty="0"/>
              <a:t>Features como flavanoids, proline e od280_od315 apresentam dois picos distintos — o que indica que diferentes cultivares se concentram em zonas de valores diferentes. Isto é um bom indicador de que estas features poderao ser úteis para a classificação. </a:t>
            </a:r>
          </a:p>
          <a:p>
            <a:r>
              <a:rPr lang="pt-BR" dirty="0"/>
              <a:t>Nenhuma feature apresenta uma distribuição uniforme, o que confirma que todas contêm alguma estrutura informativa.</a:t>
            </a:r>
          </a:p>
          <a:p>
            <a:endParaRPr lang="pt-BR" dirty="0"/>
          </a:p>
          <a:p>
            <a:r>
              <a:rPr lang="pt-BR" dirty="0"/>
              <a:t>Features como malic_acid, magnesium e color_intensity são enviesadas à direita, com caudas longas. Isto influencia a escolha do método de normalização e pode justificar a aplicação de transformações logarítmicas.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99DC1-A18C-77C2-CC07-AAFD1DD5F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EA878-87F4-4811-8C6C-83CB5CDC59F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42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8CF6-EE0C-15DE-8083-EB43195A1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6079B-8FEB-416B-5151-87CBCF831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E21DB-BF98-DF81-1E55-B60FA3BFC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Da leitura da da tabela do lado esquerdo, confirmamos quais features mais se correlacionam com a classe, sendo flavanoids (-0.85), od280_od315 (-0.79), total_phenols (-0.72), proline (-0.63) e hue (-0.62) os mais fortes. O segundo ponto importante é a </a:t>
            </a:r>
            <a:r>
              <a:rPr lang="pt-BR" b="1" dirty="0"/>
              <a:t>multicolinearidade</a:t>
            </a:r>
            <a:r>
              <a:rPr lang="pt-BR" dirty="0"/>
              <a:t>: total_phenols e flavanoids têm uma correlação de 0.86, o que significa que medem coisas muito semelhantes. </a:t>
            </a:r>
          </a:p>
          <a:p>
            <a:r>
              <a:rPr lang="pt-BR" dirty="0"/>
              <a:t>Isto é relevante porque modelos como a Logistic Regression podem ser instáveis quando recebem features altamente correlacionadas, enquanto o Random Forest e o XGBoost não são afetados.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3B381-297F-7EA4-F14C-9F7F3A73A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EA878-87F4-4811-8C6C-83CB5CDC59F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69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E1BA6-5C6F-7140-948D-19C526ED8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1FAA48-2C6F-E601-802B-813A8BCB3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670F3D-2466-1CE7-6214-FBEF941D3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diagrama da esquerda mostra quanta variância cada componente principal captura. A primeira componente (PC1) explica 36.2% da variância e a segunda (PC2) 19.2%. Juntas, as duas primeiras componentes capturam cerca de 55% da informação total. A linha vermelha mostra que são necessárias aproximadamente 10 componentes para atingir o limiar de 95%, o que significa que poderíamos reduzir de 13 para 10 dimensões sem perda significativa de informação. </a:t>
            </a:r>
          </a:p>
          <a:p>
            <a:r>
              <a:rPr lang="pt-BR" dirty="0"/>
              <a:t>À direita temos a projeção dos dados usando apenas essas duas componentes. Cada ponto é uma amostra de vinho, colorida por cultivar. Conseguimos observar que as três classes formam grupos visualmente separados. </a:t>
            </a:r>
          </a:p>
          <a:p>
            <a:r>
              <a:rPr lang="pt-BR" dirty="0"/>
              <a:t>Existe alguma sobreposição entre estas duas últimas, o que sugere que é nessa fronteira que os modelos mais complexos poderão fazer a diferença face à Logistic Regression.</a:t>
            </a:r>
          </a:p>
          <a:p>
            <a:r>
              <a:rPr lang="pt-BR" dirty="0"/>
              <a:t>Em resumo, o PCA confirma que o problema é bem estruturado e que a classificação é viável, mesmo com uma redução significativa de dimensionalidade.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FB95B-1325-E2CA-8F5F-CC66654A3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EA878-87F4-4811-8C6C-83CB5CDC59F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84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pt-BR" dirty="0"/>
              <a:t>NÃO LER!!!!!!!!!!!!!!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pt-BR" dirty="0"/>
              <a:t>Com apenas 178 amostras, 30% deixaria só 124 para treino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pt-BR" dirty="0"/>
              <a:t>• Com 20%, mantemos 142 amostras de treino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pt-BR" dirty="0"/>
              <a:t>• 36 amostras de teste ainda permitem avaliação significativa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pt-BR"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pt-BR" dirty="0"/>
              <a:t>A estratificacao permite tentar manter um equilibrio entre a distribuicao das diferentes classes.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EA878-87F4-4811-8C6C-83CB5CDC59F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43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EA878-87F4-4811-8C6C-83CB5CDC59F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0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EA878-87F4-4811-8C6C-83CB5CDC59F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01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EA878-87F4-4811-8C6C-83CB5CDC59F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52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otimização está a otimizar sobre estes folds reduzidos, e pode encontrar parâmetros que generalizam melhor, mas neste dataset específico não superam os defaults.</a:t>
            </a:r>
          </a:p>
          <a:p>
            <a:endParaRPr lang="pt-BR" dirty="0"/>
          </a:p>
          <a:p>
            <a:r>
              <a:rPr lang="pt-BR" dirty="0"/>
              <a:t>Ao explorar combinações de hiperparâmetros mais restritivas, como limitar a profundidade das árvores ou aumentar a regularização, pode introduzir restrições que o modelo original não precisava.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EA878-87F4-4811-8C6C-83CB5CDC59F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937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dataset/109/wine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Classificação de Vinhos — UCI Wine Dataset</a:t>
            </a:r>
          </a:p>
          <a:p>
            <a:pPr algn="ctr">
              <a:defRPr sz="2000">
                <a:solidFill>
                  <a:srgbClr val="BBDEFB"/>
                </a:solidFill>
              </a:defRPr>
            </a:pPr>
            <a:endParaRPr lang="en-US" dirty="0"/>
          </a:p>
          <a:p>
            <a:pPr algn="ctr">
              <a:defRPr sz="2000">
                <a:solidFill>
                  <a:srgbClr val="BBDEFB"/>
                </a:solidFill>
              </a:defRPr>
            </a:pPr>
            <a:endParaRPr lang="en-US" dirty="0"/>
          </a:p>
        </p:txBody>
      </p:sp>
      <p:cxnSp>
        <p:nvCxnSpPr>
          <p:cNvPr id="3" name="Conexão reta 5">
            <a:extLst>
              <a:ext uri="{FF2B5EF4-FFF2-40B4-BE49-F238E27FC236}">
                <a16:creationId xmlns:a16="http://schemas.microsoft.com/office/drawing/2014/main" id="{FFC2B9E4-0790-EBE7-E0B6-E4F26D422C46}"/>
              </a:ext>
            </a:extLst>
          </p:cNvPr>
          <p:cNvCxnSpPr/>
          <p:nvPr/>
        </p:nvCxnSpPr>
        <p:spPr>
          <a:xfrm>
            <a:off x="416652" y="4816760"/>
            <a:ext cx="1135869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86363D8-9999-70A9-6645-27A62DA17D7C}"/>
              </a:ext>
            </a:extLst>
          </p:cNvPr>
          <p:cNvSpPr txBox="1"/>
          <p:nvPr/>
        </p:nvSpPr>
        <p:spPr>
          <a:xfrm>
            <a:off x="2957840" y="5121987"/>
            <a:ext cx="60971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BBDEFB"/>
                </a:solidFill>
              </a:defRPr>
            </a:pPr>
            <a:r>
              <a:rPr lang="en-US" dirty="0"/>
              <a:t>Luís Brás</a:t>
            </a:r>
          </a:p>
          <a:p>
            <a:pPr algn="ctr">
              <a:defRPr sz="2000">
                <a:solidFill>
                  <a:srgbClr val="BBDEFB"/>
                </a:solidFill>
              </a:defRPr>
            </a:pPr>
            <a:r>
              <a:rPr lang="en-US" dirty="0"/>
              <a:t>1 de Junho 2026</a:t>
            </a:r>
          </a:p>
        </p:txBody>
      </p:sp>
      <p:sp>
        <p:nvSpPr>
          <p:cNvPr id="6" name="CaixaDeTexto 10">
            <a:extLst>
              <a:ext uri="{FF2B5EF4-FFF2-40B4-BE49-F238E27FC236}">
                <a16:creationId xmlns:a16="http://schemas.microsoft.com/office/drawing/2014/main" id="{539049F8-B6B1-AF66-9006-841C75D18A65}"/>
              </a:ext>
            </a:extLst>
          </p:cNvPr>
          <p:cNvSpPr txBox="1"/>
          <p:nvPr/>
        </p:nvSpPr>
        <p:spPr>
          <a:xfrm>
            <a:off x="1004566" y="4158120"/>
            <a:ext cx="100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solidFill>
                  <a:schemeClr val="bg1"/>
                </a:solidFill>
              </a:rPr>
              <a:t>Apresentação Curso </a:t>
            </a:r>
            <a:r>
              <a:rPr lang="pt-PT" dirty="0" err="1">
                <a:solidFill>
                  <a:schemeClr val="bg1"/>
                </a:solidFill>
              </a:rPr>
              <a:t>Machine</a:t>
            </a:r>
            <a:r>
              <a:rPr lang="pt-PT" dirty="0">
                <a:solidFill>
                  <a:schemeClr val="bg1"/>
                </a:solidFill>
              </a:rPr>
              <a:t> </a:t>
            </a:r>
            <a:r>
              <a:rPr lang="pt-PT" dirty="0" err="1">
                <a:solidFill>
                  <a:schemeClr val="bg1"/>
                </a:solidFill>
              </a:rPr>
              <a:t>Learning</a:t>
            </a:r>
            <a:r>
              <a:rPr lang="pt-PT" dirty="0">
                <a:solidFill>
                  <a:schemeClr val="bg1"/>
                </a:solidFill>
              </a:rPr>
              <a:t> </a:t>
            </a:r>
            <a:r>
              <a:rPr lang="pt-PT" dirty="0" err="1">
                <a:solidFill>
                  <a:schemeClr val="bg1"/>
                </a:solidFill>
              </a:rPr>
              <a:t>Engineer</a:t>
            </a:r>
            <a:r>
              <a:rPr lang="pt-PT" dirty="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38213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en-US" dirty="0" err="1"/>
              <a:t>Estrutura</a:t>
            </a:r>
            <a:r>
              <a:rPr lang="en-US" dirty="0"/>
              <a:t> da </a:t>
            </a:r>
            <a:r>
              <a:rPr lang="en-US" dirty="0" err="1"/>
              <a:t>apresentação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1. </a:t>
            </a:r>
            <a:r>
              <a:rPr dirty="0" err="1"/>
              <a:t>Preparação</a:t>
            </a:r>
            <a:r>
              <a:rPr dirty="0"/>
              <a:t> dos Dados (</a:t>
            </a:r>
            <a:r>
              <a:rPr dirty="0" err="1"/>
              <a:t>Validação</a:t>
            </a:r>
            <a:r>
              <a:rPr dirty="0"/>
              <a:t> e Pré-</a:t>
            </a:r>
            <a:r>
              <a:rPr dirty="0" err="1"/>
              <a:t>processamento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2. </a:t>
            </a:r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Exploratória</a:t>
            </a:r>
            <a:r>
              <a:rPr dirty="0"/>
              <a:t> de</a:t>
            </a:r>
            <a:r>
              <a:rPr lang="en-US" dirty="0"/>
              <a:t> dados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3. </a:t>
            </a:r>
            <a:r>
              <a:rPr dirty="0" err="1"/>
              <a:t>Parâmetros</a:t>
            </a:r>
            <a:r>
              <a:rPr dirty="0"/>
              <a:t> de </a:t>
            </a:r>
            <a:r>
              <a:rPr dirty="0" err="1"/>
              <a:t>Treino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4. </a:t>
            </a:r>
            <a:r>
              <a:rPr dirty="0" err="1"/>
              <a:t>Seleção</a:t>
            </a:r>
            <a:r>
              <a:rPr dirty="0"/>
              <a:t> de </a:t>
            </a:r>
            <a:r>
              <a:rPr dirty="0" err="1"/>
              <a:t>Modelos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5. </a:t>
            </a:r>
            <a:r>
              <a:rPr dirty="0" err="1"/>
              <a:t>Critérios</a:t>
            </a:r>
            <a:r>
              <a:rPr dirty="0"/>
              <a:t> de </a:t>
            </a:r>
            <a:r>
              <a:rPr dirty="0" err="1"/>
              <a:t>Seleção</a:t>
            </a:r>
            <a:r>
              <a:rPr dirty="0"/>
              <a:t> do </a:t>
            </a:r>
            <a:r>
              <a:rPr dirty="0" err="1"/>
              <a:t>Melhor</a:t>
            </a:r>
            <a:r>
              <a:rPr dirty="0"/>
              <a:t> Modelo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6. </a:t>
            </a:r>
            <a:r>
              <a:rPr dirty="0" err="1"/>
              <a:t>Otimização</a:t>
            </a:r>
            <a:r>
              <a:rPr dirty="0"/>
              <a:t> (</a:t>
            </a:r>
            <a:r>
              <a:rPr dirty="0" err="1"/>
              <a:t>Optuna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1. Preparação dos Dados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55DEA-F87E-4E9D-7FCF-73343F57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7A39F2-E1A5-B832-EC85-2DD70C7153B0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848F2D-D5A7-14B9-8449-6E8FAD629023}"/>
              </a:ext>
            </a:extLst>
          </p:cNvPr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 err="1"/>
              <a:t>Resumo</a:t>
            </a:r>
            <a:r>
              <a:rPr dirty="0"/>
              <a:t> do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59EDA8-54C5-5E52-0C43-039ABFA36470}"/>
              </a:ext>
            </a:extLst>
          </p:cNvPr>
          <p:cNvSpPr txBox="1"/>
          <p:nvPr/>
        </p:nvSpPr>
        <p:spPr>
          <a:xfrm>
            <a:off x="731520" y="1280160"/>
            <a:ext cx="1051560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Fonte: UCI Machine Learning Repository</a:t>
            </a:r>
            <a:r>
              <a:rPr lang="en-US" dirty="0"/>
              <a:t> - </a:t>
            </a:r>
            <a:r>
              <a:rPr lang="en-US" dirty="0">
                <a:hlinkClick r:id="rId2"/>
              </a:rPr>
              <a:t>https://archive.ics.uci.edu/dataset/109/wine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178 </a:t>
            </a:r>
            <a:r>
              <a:rPr dirty="0" err="1"/>
              <a:t>amostras</a:t>
            </a:r>
            <a:r>
              <a:rPr dirty="0"/>
              <a:t>, 13 features </a:t>
            </a:r>
            <a:r>
              <a:rPr dirty="0" err="1"/>
              <a:t>contínuas</a:t>
            </a:r>
            <a:r>
              <a:rPr dirty="0"/>
              <a:t>, 3 classes (</a:t>
            </a:r>
            <a:r>
              <a:rPr dirty="0" err="1"/>
              <a:t>cultivares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castas</a:t>
            </a:r>
            <a:r>
              <a:rPr lang="en-US" dirty="0"/>
              <a:t> </a:t>
            </a:r>
            <a:r>
              <a:rPr lang="en-US" dirty="0" err="1"/>
              <a:t>italianas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Distribuição</a:t>
            </a:r>
            <a:r>
              <a:rPr dirty="0"/>
              <a:t>: Cultivar 1: 59 (33%) | Cultivar 2: 71 (40%) | Cultivar 3: 48 (27%)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Sem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(zero missing values)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Escalas </a:t>
            </a:r>
            <a:r>
              <a:rPr dirty="0" err="1"/>
              <a:t>muito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entre features: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 - Proline: 278–1680 | Hue: 0.48–1.71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9676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94715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en-US" dirty="0"/>
              <a:t>Features do </a:t>
            </a:r>
            <a:r>
              <a:rPr dirty="0"/>
              <a:t>Dataset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18AFD00-B97C-CD8D-F05D-15D94CD45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594271"/>
              </p:ext>
            </p:extLst>
          </p:nvPr>
        </p:nvGraphicFramePr>
        <p:xfrm>
          <a:off x="673585" y="1253635"/>
          <a:ext cx="10697084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7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Feature</a:t>
                      </a:r>
                      <a:endParaRPr dirty="0"/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Descrição</a:t>
                      </a:r>
                      <a:endParaRPr dirty="0"/>
                    </a:p>
                  </a:txBody>
                  <a:tcPr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3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alcohol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pt-BR" dirty="0"/>
                        <a:t>Teor alcoólico. Percentagem de álcool por volume. Varia tipicamente entre 11–15%.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3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malic_acid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pt-BR" sz="13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Ácido málico. Ácido orgânico presente nas uvas; mais elevado em climas frios.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3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ash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pt-BR" dirty="0"/>
                        <a:t>Cinzas. Resíduo inorgânico após combustão; reflete o conteúdo mineral do vinho.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3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alcalinity_of_ash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pt-BR" dirty="0"/>
                        <a:t>Alcalinidade das cinzas. Mede os metais alcalino-terrosos presentes nas cinzas.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magnesium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 err="1"/>
                        <a:t>Magnésio</a:t>
                      </a:r>
                      <a:r>
                        <a:rPr lang="en-US" dirty="0"/>
                        <a:t>. Mineral </a:t>
                      </a:r>
                      <a:r>
                        <a:rPr lang="en-US" dirty="0" err="1"/>
                        <a:t>essencial</a:t>
                      </a:r>
                      <a:r>
                        <a:rPr lang="en-US" dirty="0"/>
                        <a:t>; varia </a:t>
                      </a:r>
                      <a:r>
                        <a:rPr lang="en-US" dirty="0" err="1"/>
                        <a:t>conforme</a:t>
                      </a:r>
                      <a:r>
                        <a:rPr lang="en-US" dirty="0"/>
                        <a:t> o solo e a casta.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69794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3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total_phenols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pt-BR" dirty="0"/>
                        <a:t>Fenóis totais. Compostos antioxidantes que contribuem para a cor, sabor e sensação na boca.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5513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3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flavanoids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pt-BR" dirty="0"/>
                        <a:t>Flavonóides. Subclasse dos fenóis; principal contributo para a cor e sabor do vinho tinto.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00318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3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nonflavanoid_phenols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pt-BR" sz="13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Fenóis não flavonóides. Compostos fenólicos que não pertencem à classe dos flavonóides.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5121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3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proanthocyanins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pt-BR" sz="13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Proantocianinas. Compostos semelhantes a taninos; afetam a adstringência.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4713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3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color_intensity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pt-BR" sz="13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Intensidade da cor. Medição por densidade ótica; indica a riqueza e profundidade do vinho.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9825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3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hue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pt-BR" sz="13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Tonalidade. Razão de densidades óticas a diferentes comprimentos de onda; indica a idade/tipo do vinho.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0236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3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od280_od315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pt-BR" sz="13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OD280/OD315 de vinhos diluídos. Indicador do teor proteico através da razão de absorção ultravioleta.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5183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sz="13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proline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pt-BR" sz="13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Prolina. Aminoácido; níveis mais elevados em vinhos de regiões quentes e secas.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9056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77593-4F66-204E-EC18-5CABF1054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94F24C-E339-4656-5AB4-BB2B168484C1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B4AA2-CB59-6F59-3D18-A829F546552D}"/>
              </a:ext>
            </a:extLst>
          </p:cNvPr>
          <p:cNvSpPr txBox="1"/>
          <p:nvPr/>
        </p:nvSpPr>
        <p:spPr>
          <a:xfrm>
            <a:off x="457200" y="137160"/>
            <a:ext cx="516487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pt-BR" dirty="0"/>
              <a:t>Intervalos de Validação das features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E99E6-8976-FD6C-E833-6D3D0DED3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82" y="1143000"/>
            <a:ext cx="5689688" cy="3172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69025D-7C8D-CA8A-DD87-BEE7E1867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608" y="1143000"/>
            <a:ext cx="4629796" cy="48107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6B3E53-DBD2-E500-0952-1906230C3B00}"/>
              </a:ext>
            </a:extLst>
          </p:cNvPr>
          <p:cNvSpPr txBox="1"/>
          <p:nvPr/>
        </p:nvSpPr>
        <p:spPr>
          <a:xfrm>
            <a:off x="264382" y="4931273"/>
            <a:ext cx="61390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pt-BR" b="0" i="0" dirty="0">
                <a:effectLst/>
                <a:latin typeface="-apple-system"/>
              </a:rPr>
              <a:t>Os intervalos são definidos com </a:t>
            </a:r>
            <a:r>
              <a:rPr lang="pt-BR" b="1" i="0" dirty="0">
                <a:effectLst/>
                <a:latin typeface="-apple-system"/>
              </a:rPr>
              <a:t>~20-30% de margem</a:t>
            </a:r>
            <a:r>
              <a:rPr lang="pt-BR" b="0" i="0" dirty="0">
                <a:effectLst/>
                <a:latin typeface="-apple-system"/>
              </a:rPr>
              <a:t> além dos dados observados para permitir variação em novos vinhos</a:t>
            </a:r>
          </a:p>
          <a:p>
            <a:pPr marL="285750" indent="-285750">
              <a:buFontTx/>
              <a:buChar char="-"/>
            </a:pPr>
            <a:endParaRPr lang="pt-BR" dirty="0"/>
          </a:p>
          <a:p>
            <a:pPr marL="285750" indent="-285750">
              <a:buFontTx/>
              <a:buChar char="-"/>
            </a:pPr>
            <a:r>
              <a:rPr lang="pt-BR" dirty="0"/>
              <a:t>Valores negativos rejeitados (quantidades físicas/químicas)</a:t>
            </a:r>
            <a:endParaRPr lang="pt-BR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085771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Etapas de Pré-processamento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214686"/>
              </p:ext>
            </p:extLst>
          </p:nvPr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Etapa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Método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Justificação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Standardização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StandardScaler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Features com </a:t>
                      </a:r>
                      <a:r>
                        <a:rPr dirty="0" err="1"/>
                        <a:t>escalas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muito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diferentes</a:t>
                      </a:r>
                      <a:r>
                        <a:rPr dirty="0"/>
                        <a:t>; </a:t>
                      </a:r>
                      <a:r>
                        <a:rPr dirty="0" err="1"/>
                        <a:t>essencial</a:t>
                      </a:r>
                      <a:r>
                        <a:rPr dirty="0"/>
                        <a:t> para </a:t>
                      </a:r>
                      <a:r>
                        <a:rPr dirty="0" err="1"/>
                        <a:t>L</a:t>
                      </a:r>
                      <a:r>
                        <a:rPr lang="en-US" dirty="0" err="1"/>
                        <a:t>ogaritimic</a:t>
                      </a:r>
                      <a:r>
                        <a:rPr lang="en-US" dirty="0"/>
                        <a:t> Regression</a:t>
                      </a:r>
                      <a:r>
                        <a:rPr dirty="0"/>
                        <a:t> e SVM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Encoding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Não necessário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Todas</a:t>
                      </a:r>
                      <a:r>
                        <a:rPr dirty="0"/>
                        <a:t> as features </a:t>
                      </a:r>
                      <a:r>
                        <a:rPr dirty="0" err="1"/>
                        <a:t>são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numéricas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contínuas</a:t>
                      </a:r>
                      <a:r>
                        <a:rPr lang="en-US" dirty="0"/>
                        <a:t>. </a:t>
                      </a:r>
                      <a:r>
                        <a:rPr lang="pt-BR" sz="1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target já está codificado como inteiro (0/1/2).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Imputação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Não necessário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Zero valores em falta no dataset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Outliers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Mantidos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Com 178 </a:t>
                      </a:r>
                      <a:r>
                        <a:rPr dirty="0" err="1"/>
                        <a:t>amostras</a:t>
                      </a:r>
                      <a:r>
                        <a:rPr dirty="0"/>
                        <a:t>, remover outliers </a:t>
                      </a:r>
                      <a:r>
                        <a:rPr lang="en-US" dirty="0" err="1"/>
                        <a:t>poderia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implicar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perda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informação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StandardScaler vs MinMaxScaler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StandardScaler</a:t>
            </a:r>
            <a:r>
              <a:rPr dirty="0"/>
              <a:t> (</a:t>
            </a:r>
            <a:r>
              <a:rPr dirty="0" err="1"/>
              <a:t>escolhido</a:t>
            </a:r>
            <a:r>
              <a:rPr dirty="0"/>
              <a:t>): </a:t>
            </a:r>
            <a:r>
              <a:rPr dirty="0" err="1"/>
              <a:t>média</a:t>
            </a:r>
            <a:r>
              <a:rPr dirty="0"/>
              <a:t>=0, </a:t>
            </a:r>
            <a:r>
              <a:rPr dirty="0" err="1"/>
              <a:t>variância</a:t>
            </a:r>
            <a:r>
              <a:rPr dirty="0"/>
              <a:t>=1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 → Robusto a outliers (proline </a:t>
            </a:r>
            <a:r>
              <a:rPr dirty="0" err="1"/>
              <a:t>tem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variância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 → </a:t>
            </a:r>
            <a:r>
              <a:rPr dirty="0" err="1"/>
              <a:t>Melhor</a:t>
            </a:r>
            <a:r>
              <a:rPr dirty="0"/>
              <a:t> para SVM com kernel RBF e Logistic Regression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MinMaxScaler</a:t>
            </a:r>
            <a:r>
              <a:rPr dirty="0"/>
              <a:t> (</a:t>
            </a:r>
            <a:r>
              <a:rPr dirty="0" err="1"/>
              <a:t>descartado</a:t>
            </a:r>
            <a:r>
              <a:rPr dirty="0"/>
              <a:t>): </a:t>
            </a:r>
            <a:r>
              <a:rPr dirty="0" err="1"/>
              <a:t>comprime</a:t>
            </a:r>
            <a:r>
              <a:rPr dirty="0"/>
              <a:t> para [0,1]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 → </a:t>
            </a:r>
            <a:r>
              <a:rPr dirty="0" err="1"/>
              <a:t>Sensível</a:t>
            </a:r>
            <a:r>
              <a:rPr dirty="0"/>
              <a:t> a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extremos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 → Menos </a:t>
            </a:r>
            <a:r>
              <a:rPr dirty="0" err="1"/>
              <a:t>adequado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há</a:t>
            </a:r>
            <a:r>
              <a:rPr dirty="0"/>
              <a:t> outliers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Random Forest e </a:t>
            </a:r>
            <a:r>
              <a:rPr dirty="0" err="1"/>
              <a:t>XGBoost</a:t>
            </a:r>
            <a:r>
              <a:rPr dirty="0"/>
              <a:t>: </a:t>
            </a:r>
            <a:r>
              <a:rPr dirty="0" err="1"/>
              <a:t>invariantes</a:t>
            </a:r>
            <a:r>
              <a:rPr dirty="0"/>
              <a:t> à </a:t>
            </a:r>
            <a:r>
              <a:rPr dirty="0" err="1"/>
              <a:t>escala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 → Scaling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prejudica</a:t>
            </a:r>
            <a:r>
              <a:rPr dirty="0"/>
              <a:t> mas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ajuda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78150" y="2560320"/>
            <a:ext cx="633090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/>
              <a:t>2. </a:t>
            </a:r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Exploratória</a:t>
            </a:r>
            <a:r>
              <a:rPr dirty="0"/>
              <a:t> de </a:t>
            </a:r>
            <a:r>
              <a:rPr lang="en-US" dirty="0"/>
              <a:t>dados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08532-AF41-1E19-2577-41B0B04E4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CF952F-7FBE-187F-84FC-33A069306619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DFC4F2-3E14-0B67-31FD-F3CA0E996C00}"/>
              </a:ext>
            </a:extLst>
          </p:cNvPr>
          <p:cNvSpPr txBox="1"/>
          <p:nvPr/>
        </p:nvSpPr>
        <p:spPr>
          <a:xfrm>
            <a:off x="457200" y="137160"/>
            <a:ext cx="361445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pt-BR" dirty="0"/>
              <a:t>Distribuição das features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2244EB-9C2E-A230-B097-77209F088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690" y="710922"/>
            <a:ext cx="9374347" cy="613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8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DF069-1F27-AFB8-23A2-94CA1365E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83F52F-BB2D-8957-EE72-BB64969359B9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17CB67-30D7-A711-4C56-391212AACDFD}"/>
              </a:ext>
            </a:extLst>
          </p:cNvPr>
          <p:cNvSpPr txBox="1"/>
          <p:nvPr/>
        </p:nvSpPr>
        <p:spPr>
          <a:xfrm>
            <a:off x="457200" y="137160"/>
            <a:ext cx="545162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pt-BR" dirty="0"/>
              <a:t>Distribuição das features - Histograma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E491B-5EDD-2A49-E7BE-38FFF0F23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909" y="629603"/>
            <a:ext cx="9655767" cy="622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580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4BC90-F34D-6BD8-D578-18BD54622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340272-9AEB-4FC3-454C-CA54BC1BFD64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015764-C6E5-F6BC-A063-AE2867E50DC2}"/>
              </a:ext>
            </a:extLst>
          </p:cNvPr>
          <p:cNvSpPr txBox="1"/>
          <p:nvPr/>
        </p:nvSpPr>
        <p:spPr>
          <a:xfrm>
            <a:off x="457200" y="137160"/>
            <a:ext cx="515564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pt-BR" sz="2600" b="1" dirty="0"/>
              <a:t>Matriz de Correlação entre Features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FB33BE-E865-11D9-5675-383DD7764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9206"/>
            <a:ext cx="4248743" cy="36676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9C107C-A368-A992-F857-040FB1057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366" y="628050"/>
            <a:ext cx="7375634" cy="622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57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BBB92-2328-C2F6-1434-4270119EF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946949-BF6F-6368-DD6B-1B3C39D28D04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D02D45-D54D-B021-2ECB-2EE44F197C77}"/>
              </a:ext>
            </a:extLst>
          </p:cNvPr>
          <p:cNvSpPr txBox="1"/>
          <p:nvPr/>
        </p:nvSpPr>
        <p:spPr>
          <a:xfrm>
            <a:off x="457200" y="137160"/>
            <a:ext cx="587141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pt-BR" sz="2600" b="1" dirty="0"/>
              <a:t>Análise de Componentes Principais (PCA)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40766B-6C95-4A4A-2321-B2517CF32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503"/>
            <a:ext cx="12192000" cy="430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04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92918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en-US" dirty="0" err="1"/>
              <a:t>Conclusoes</a:t>
            </a:r>
            <a:r>
              <a:rPr dirty="0"/>
              <a:t> da </a:t>
            </a:r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Exploratória</a:t>
            </a:r>
            <a:r>
              <a:rPr dirty="0"/>
              <a:t>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340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Compreender</a:t>
            </a:r>
            <a:r>
              <a:rPr dirty="0"/>
              <a:t> </a:t>
            </a:r>
            <a:r>
              <a:rPr dirty="0" err="1"/>
              <a:t>distribuições</a:t>
            </a:r>
            <a:r>
              <a:rPr dirty="0"/>
              <a:t> de features e </a:t>
            </a: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assimetrias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 → Proline e </a:t>
            </a:r>
            <a:r>
              <a:rPr dirty="0" err="1"/>
              <a:t>color_intensity</a:t>
            </a:r>
            <a:r>
              <a:rPr dirty="0"/>
              <a:t>: </a:t>
            </a:r>
            <a:r>
              <a:rPr dirty="0" err="1"/>
              <a:t>distribuições</a:t>
            </a:r>
            <a:r>
              <a:rPr dirty="0"/>
              <a:t> </a:t>
            </a:r>
            <a:r>
              <a:rPr dirty="0" err="1"/>
              <a:t>assimétricas</a:t>
            </a:r>
            <a:r>
              <a:rPr dirty="0"/>
              <a:t> à </a:t>
            </a:r>
            <a:r>
              <a:rPr dirty="0" err="1"/>
              <a:t>direita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Detetar</a:t>
            </a:r>
            <a:r>
              <a:rPr dirty="0"/>
              <a:t> </a:t>
            </a:r>
            <a:r>
              <a:rPr dirty="0" err="1"/>
              <a:t>correlações</a:t>
            </a:r>
            <a:r>
              <a:rPr dirty="0"/>
              <a:t> entre features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 → </a:t>
            </a:r>
            <a:r>
              <a:rPr dirty="0" err="1"/>
              <a:t>Flavanoids</a:t>
            </a:r>
            <a:r>
              <a:rPr dirty="0"/>
              <a:t> vs </a:t>
            </a:r>
            <a:r>
              <a:rPr dirty="0" err="1"/>
              <a:t>total_phenols</a:t>
            </a:r>
            <a:r>
              <a:rPr dirty="0"/>
              <a:t>: </a:t>
            </a:r>
            <a:r>
              <a:rPr dirty="0" err="1"/>
              <a:t>correlação</a:t>
            </a:r>
            <a:r>
              <a:rPr dirty="0"/>
              <a:t> ~0.86</a:t>
            </a:r>
            <a:r>
              <a:rPr lang="en-US" dirty="0"/>
              <a:t> (</a:t>
            </a:r>
            <a:r>
              <a:rPr lang="pt-BR" dirty="0"/>
              <a:t>flavanoids são subconjunto dos phenols?)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Visualizar</a:t>
            </a:r>
            <a:r>
              <a:rPr dirty="0"/>
              <a:t> </a:t>
            </a:r>
            <a:r>
              <a:rPr dirty="0" err="1"/>
              <a:t>separabilidade</a:t>
            </a:r>
            <a:r>
              <a:rPr dirty="0"/>
              <a:t> entre classes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 → Cultivar 1 </a:t>
            </a:r>
            <a:r>
              <a:rPr dirty="0" err="1"/>
              <a:t>bem</a:t>
            </a:r>
            <a:r>
              <a:rPr dirty="0"/>
              <a:t> </a:t>
            </a:r>
            <a:r>
              <a:rPr dirty="0" err="1"/>
              <a:t>separada</a:t>
            </a:r>
            <a:r>
              <a:rPr dirty="0"/>
              <a:t> das </a:t>
            </a:r>
            <a:r>
              <a:rPr dirty="0" err="1"/>
              <a:t>outras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múltiplas</a:t>
            </a:r>
            <a:r>
              <a:rPr dirty="0"/>
              <a:t> </a:t>
            </a:r>
            <a:r>
              <a:rPr dirty="0" err="1"/>
              <a:t>dimensões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3. Parâmetros de Treino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 err="1"/>
              <a:t>Configuração</a:t>
            </a:r>
            <a:r>
              <a:rPr dirty="0"/>
              <a:t> do </a:t>
            </a:r>
            <a:r>
              <a:rPr dirty="0" err="1"/>
              <a:t>Treino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8305"/>
              </p:ext>
            </p:extLst>
          </p:nvPr>
        </p:nvGraphicFramePr>
        <p:xfrm>
          <a:off x="45720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Parâmetro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Justificação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Proporção de teste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20% (0.2)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178 amostras → ~36 teste (~12/classe). Bom equilíbrio.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Estratificação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Sim (stratify=y)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Preserva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distribuição</a:t>
                      </a:r>
                      <a:r>
                        <a:rPr dirty="0"/>
                        <a:t> 59/71/48 </a:t>
                      </a:r>
                      <a:r>
                        <a:rPr dirty="0" err="1"/>
                        <a:t>em</a:t>
                      </a:r>
                      <a:r>
                        <a:rPr dirty="0"/>
                        <a:t> train e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Random seed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Reprodutibilidade entre experiências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Scaling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fit_transform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no</a:t>
                      </a:r>
                      <a:r>
                        <a:rPr lang="en-US" dirty="0" err="1"/>
                        <a:t>s</a:t>
                      </a:r>
                      <a:r>
                        <a:rPr lang="en-US" dirty="0"/>
                        <a:t> dados de </a:t>
                      </a:r>
                      <a:r>
                        <a:rPr lang="en-US" dirty="0" err="1"/>
                        <a:t>treino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Fit </a:t>
                      </a:r>
                      <a:r>
                        <a:rPr dirty="0" err="1"/>
                        <a:t>só</a:t>
                      </a:r>
                      <a:r>
                        <a:rPr dirty="0"/>
                        <a:t> no </a:t>
                      </a:r>
                      <a:r>
                        <a:rPr dirty="0" err="1"/>
                        <a:t>treino</a:t>
                      </a:r>
                      <a:r>
                        <a:rPr dirty="0"/>
                        <a:t> para </a:t>
                      </a:r>
                      <a:r>
                        <a:rPr dirty="0" err="1"/>
                        <a:t>evitar</a:t>
                      </a:r>
                      <a:r>
                        <a:rPr dirty="0"/>
                        <a:t> data leakage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evitar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incluir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informacoes</a:t>
                      </a:r>
                      <a:r>
                        <a:rPr lang="en-US" dirty="0"/>
                        <a:t> das </a:t>
                      </a:r>
                      <a:r>
                        <a:rPr lang="en-US" dirty="0" err="1"/>
                        <a:t>amostras</a:t>
                      </a:r>
                      <a:r>
                        <a:rPr lang="en-US" dirty="0"/>
                        <a:t> de teste)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Cross-validation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utilizado</a:t>
                      </a:r>
                      <a:r>
                        <a:rPr lang="en-US" dirty="0"/>
                        <a:t> no tuning do </a:t>
                      </a:r>
                      <a:r>
                        <a:rPr lang="en-US" dirty="0" err="1"/>
                        <a:t>hyperparametros</a:t>
                      </a:r>
                      <a:r>
                        <a:rPr lang="en-US" dirty="0"/>
                        <a:t>)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5-fold </a:t>
                      </a:r>
                      <a:r>
                        <a:rPr dirty="0" err="1"/>
                        <a:t>stratificado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Standard para datasets </a:t>
                      </a:r>
                      <a:r>
                        <a:rPr dirty="0" err="1"/>
                        <a:t>pequenos</a:t>
                      </a:r>
                      <a:r>
                        <a:rPr dirty="0"/>
                        <a:t>; </a:t>
                      </a:r>
                      <a:r>
                        <a:rPr lang="en-US" dirty="0"/>
                        <a:t>(</a:t>
                      </a:r>
                      <a:r>
                        <a:rPr lang="pt-BR" dirty="0"/>
                        <a:t>142 amsotras para treino &amp; ~36 amostras para validação por fold)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9877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4. Seleção de Modelos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Modelos Escolhidos para Comparação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190463"/>
              </p:ext>
            </p:extLst>
          </p:nvPr>
        </p:nvGraphicFramePr>
        <p:xfrm>
          <a:off x="457200" y="1371600"/>
          <a:ext cx="1124712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Modelo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Porquê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Logistic Regression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Modelo </a:t>
                      </a:r>
                      <a:r>
                        <a:rPr dirty="0"/>
                        <a:t>Linear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Baseline; </a:t>
                      </a:r>
                      <a:r>
                        <a:rPr dirty="0" err="1"/>
                        <a:t>rápido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interpretável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referência</a:t>
                      </a:r>
                      <a:r>
                        <a:rPr dirty="0"/>
                        <a:t> linear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Modelo </a:t>
                      </a:r>
                      <a:r>
                        <a:rPr lang="en-US" dirty="0" err="1"/>
                        <a:t>baseado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árvores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decisao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Robusto a outliers, </a:t>
                      </a:r>
                      <a:r>
                        <a:rPr dirty="0" err="1"/>
                        <a:t>sem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necessidade</a:t>
                      </a:r>
                      <a:r>
                        <a:rPr dirty="0"/>
                        <a:t> de scaling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pt-BR" dirty="0"/>
                        <a:t>Modelo baseado em árvores de decisao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Top performer </a:t>
                      </a:r>
                      <a:r>
                        <a:rPr dirty="0" err="1"/>
                        <a:t>em</a:t>
                      </a:r>
                      <a:r>
                        <a:rPr dirty="0"/>
                        <a:t> dados </a:t>
                      </a:r>
                      <a:r>
                        <a:rPr dirty="0" err="1"/>
                        <a:t>tabulares</a:t>
                      </a:r>
                      <a:r>
                        <a:rPr dirty="0"/>
                        <a:t>; </a:t>
                      </a:r>
                      <a:r>
                        <a:rPr dirty="0" err="1"/>
                        <a:t>regularização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integrada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SVM (kernel RBF)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Kernel-based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Forte </a:t>
                      </a:r>
                      <a:r>
                        <a:rPr dirty="0" err="1"/>
                        <a:t>em</a:t>
                      </a:r>
                      <a:r>
                        <a:rPr dirty="0"/>
                        <a:t> datasets </a:t>
                      </a:r>
                      <a:r>
                        <a:rPr dirty="0" err="1"/>
                        <a:t>pequenos</a:t>
                      </a:r>
                      <a:r>
                        <a:rPr dirty="0"/>
                        <a:t> com boa </a:t>
                      </a:r>
                      <a:r>
                        <a:rPr dirty="0" err="1"/>
                        <a:t>separabilidade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Justificação da Seleção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Problema</a:t>
            </a:r>
            <a:r>
              <a:rPr dirty="0"/>
              <a:t> de </a:t>
            </a:r>
            <a:r>
              <a:rPr dirty="0" err="1"/>
              <a:t>classificação</a:t>
            </a:r>
            <a:r>
              <a:rPr dirty="0"/>
              <a:t> </a:t>
            </a:r>
            <a:r>
              <a:rPr dirty="0" err="1"/>
              <a:t>multiclasse</a:t>
            </a:r>
            <a:r>
              <a:rPr dirty="0"/>
              <a:t> (3 </a:t>
            </a:r>
            <a:r>
              <a:rPr dirty="0" err="1"/>
              <a:t>cultivares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 → </a:t>
            </a:r>
            <a:r>
              <a:rPr dirty="0" err="1"/>
              <a:t>Modelos</a:t>
            </a:r>
            <a:r>
              <a:rPr dirty="0"/>
              <a:t> de </a:t>
            </a:r>
            <a:r>
              <a:rPr dirty="0" err="1"/>
              <a:t>regressão</a:t>
            </a:r>
            <a:r>
              <a:rPr dirty="0"/>
              <a:t> </a:t>
            </a:r>
            <a:r>
              <a:rPr dirty="0" err="1"/>
              <a:t>inadequados</a:t>
            </a:r>
            <a:r>
              <a:rPr dirty="0"/>
              <a:t> (</a:t>
            </a:r>
            <a:r>
              <a:rPr dirty="0" err="1"/>
              <a:t>tratariam</a:t>
            </a:r>
            <a:r>
              <a:rPr dirty="0"/>
              <a:t> classes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numéricos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Dataset </a:t>
            </a:r>
            <a:r>
              <a:rPr dirty="0" err="1"/>
              <a:t>pequeno</a:t>
            </a:r>
            <a:r>
              <a:rPr dirty="0"/>
              <a:t> (178 </a:t>
            </a:r>
            <a:r>
              <a:rPr dirty="0" err="1"/>
              <a:t>amostras</a:t>
            </a:r>
            <a:r>
              <a:rPr dirty="0"/>
              <a:t>) →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treinam</a:t>
            </a:r>
            <a:r>
              <a:rPr dirty="0"/>
              <a:t> </a:t>
            </a:r>
            <a:r>
              <a:rPr dirty="0" err="1"/>
              <a:t>rapidamente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Random Forest e </a:t>
            </a:r>
            <a:r>
              <a:rPr dirty="0" err="1"/>
              <a:t>XGBoost</a:t>
            </a:r>
            <a:r>
              <a:rPr dirty="0"/>
              <a:t>: feature importance </a:t>
            </a:r>
            <a:r>
              <a:rPr dirty="0" err="1"/>
              <a:t>nativa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Scaled data: Logistic Regression + SVM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• Unscaled data: Random Forest + </a:t>
            </a:r>
            <a:r>
              <a:rPr dirty="0" err="1"/>
              <a:t>XGBoost</a:t>
            </a:r>
            <a:r>
              <a:rPr dirty="0"/>
              <a:t> (</a:t>
            </a:r>
            <a:r>
              <a:rPr dirty="0" err="1"/>
              <a:t>invariantes</a:t>
            </a:r>
            <a:r>
              <a:rPr dirty="0"/>
              <a:t> à </a:t>
            </a:r>
            <a:r>
              <a:rPr dirty="0" err="1"/>
              <a:t>escala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5. Critérios de Seleção</a:t>
            </a:r>
            <a:br/>
            <a:r>
              <a:t>do Melhor Modelo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Métricas de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Precision</a:t>
            </a:r>
            <a:r>
              <a:rPr lang="pt-BR" dirty="0"/>
              <a:t> — "De todas as vezes que o modelo disse cultivar X, quantas estavam certas?“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Accuracy</a:t>
            </a:r>
            <a:r>
              <a:rPr lang="pt-BR" dirty="0"/>
              <a:t> — Proporção de previsões corretas sobre o total (pode ser enganadora com classes desequilibradas).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Recall</a:t>
            </a:r>
            <a:r>
              <a:rPr lang="pt-BR" dirty="0"/>
              <a:t> — "De todas as amostras reais da cultivar X, quantas o modelo encontrou?"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F1-score</a:t>
            </a:r>
            <a:r>
              <a:rPr lang="pt-BR" dirty="0"/>
              <a:t> — é a média harmónica entre precision e recall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214E3-E000-53B9-A19A-97AB1EBB0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955204"/>
            <a:ext cx="10515600" cy="17656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EEA152-2CC3-24DC-8318-029B41090A24}"/>
              </a:ext>
            </a:extLst>
          </p:cNvPr>
          <p:cNvSpPr txBox="1"/>
          <p:nvPr/>
        </p:nvSpPr>
        <p:spPr>
          <a:xfrm>
            <a:off x="731520" y="4274262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 </a:t>
            </a:r>
            <a:r>
              <a:rPr lang="en-US" dirty="0" err="1"/>
              <a:t>valores</a:t>
            </a:r>
            <a:r>
              <a:rPr lang="en-US" dirty="0"/>
              <a:t> default para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hiperparamtros</a:t>
            </a:r>
            <a:r>
              <a:rPr lang="en-US" dirty="0"/>
              <a:t> dos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foram</a:t>
            </a:r>
            <a:r>
              <a:rPr lang="en-US" dirty="0"/>
              <a:t> </a:t>
            </a:r>
            <a:r>
              <a:rPr lang="en-US" dirty="0" err="1"/>
              <a:t>obitidos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seguintes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46679" y="2560320"/>
            <a:ext cx="2793842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/>
              <a:t>6. </a:t>
            </a:r>
            <a:r>
              <a:rPr dirty="0" err="1"/>
              <a:t>Otimização</a:t>
            </a:r>
            <a:br>
              <a:rPr dirty="0"/>
            </a:br>
            <a:r>
              <a:rPr dirty="0"/>
              <a:t>(</a:t>
            </a:r>
            <a:r>
              <a:rPr dirty="0" err="1"/>
              <a:t>Optuna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360040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 err="1"/>
              <a:t>Estratégia</a:t>
            </a:r>
            <a:r>
              <a:rPr dirty="0"/>
              <a:t> de </a:t>
            </a:r>
            <a:r>
              <a:rPr dirty="0" err="1"/>
              <a:t>Otimização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1. Baseline: </a:t>
            </a:r>
            <a:r>
              <a:rPr dirty="0" err="1"/>
              <a:t>treinar</a:t>
            </a:r>
            <a:r>
              <a:rPr dirty="0"/>
              <a:t> </a:t>
            </a:r>
            <a:r>
              <a:rPr dirty="0" err="1"/>
              <a:t>todos</a:t>
            </a:r>
            <a:r>
              <a:rPr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dirty="0"/>
              <a:t>com </a:t>
            </a:r>
            <a:r>
              <a:rPr dirty="0" err="1"/>
              <a:t>hiperparâmetros</a:t>
            </a:r>
            <a:r>
              <a:rPr dirty="0"/>
              <a:t> default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2</a:t>
            </a:r>
            <a:r>
              <a:rPr dirty="0"/>
              <a:t>. </a:t>
            </a:r>
            <a:r>
              <a:rPr dirty="0" err="1"/>
              <a:t>Optuna</a:t>
            </a:r>
            <a:r>
              <a:rPr dirty="0"/>
              <a:t>: </a:t>
            </a:r>
            <a:r>
              <a:rPr lang="pt-BR" b="1" dirty="0"/>
              <a:t>direction='maximize'</a:t>
            </a:r>
            <a:r>
              <a:rPr lang="pt-BR" dirty="0"/>
              <a:t> — Queremos maximizar o F1 Macro (Média simples dos F1 por classe)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pt-BR" dirty="0"/>
              <a:t>	</a:t>
            </a:r>
            <a:r>
              <a:rPr lang="en-US" dirty="0"/>
              <a:t>Cross-Validation: 5-fold </a:t>
            </a:r>
            <a:r>
              <a:rPr lang="en-US" dirty="0" err="1"/>
              <a:t>estratificado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79645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 err="1"/>
              <a:t>Optuna</a:t>
            </a:r>
            <a:r>
              <a:rPr dirty="0"/>
              <a:t> — </a:t>
            </a:r>
            <a:r>
              <a:rPr lang="en-US" dirty="0" err="1"/>
              <a:t>Exemplo</a:t>
            </a:r>
            <a:r>
              <a:rPr lang="en-US" dirty="0"/>
              <a:t> </a:t>
            </a:r>
            <a:r>
              <a:rPr lang="en-US" dirty="0" err="1"/>
              <a:t>parametros</a:t>
            </a:r>
            <a:r>
              <a:rPr lang="en-US" dirty="0"/>
              <a:t> </a:t>
            </a:r>
            <a:r>
              <a:rPr dirty="0" err="1"/>
              <a:t>XGBoost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Parâmetro</a:t>
                      </a:r>
                      <a:endParaRPr dirty="0"/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Escala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n_estimators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[50, 300]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Linear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max_depth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[3, 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Linear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learning_rate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[0.01, 0.3]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Log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subsample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[0.6, 1.0]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Linear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colsample_bytree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[0.6, 1.0]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Linear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reg_alpha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[0.001, 10.0]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reg_lambda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[0.001, 10.0]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Log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319529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 err="1"/>
              <a:t>Resultados</a:t>
            </a:r>
            <a:r>
              <a:rPr dirty="0"/>
              <a:t> —</a:t>
            </a:r>
            <a:r>
              <a:rPr lang="en-US" dirty="0"/>
              <a:t> </a:t>
            </a:r>
            <a:r>
              <a:rPr dirty="0" err="1"/>
              <a:t>Optuna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Todos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atingem</a:t>
            </a:r>
            <a:r>
              <a:rPr dirty="0"/>
              <a:t> </a:t>
            </a:r>
            <a:r>
              <a:rPr lang="en-US" dirty="0"/>
              <a:t>+ de </a:t>
            </a:r>
            <a:r>
              <a:rPr dirty="0"/>
              <a:t>95% </a:t>
            </a:r>
            <a:r>
              <a:rPr lang="en-US" dirty="0"/>
              <a:t>no </a:t>
            </a:r>
            <a:r>
              <a:rPr lang="en-US" dirty="0" err="1"/>
              <a:t>parametro</a:t>
            </a:r>
            <a:r>
              <a:rPr lang="en-US" dirty="0"/>
              <a:t> </a:t>
            </a:r>
            <a:r>
              <a:rPr dirty="0"/>
              <a:t>F1</a:t>
            </a:r>
            <a:r>
              <a:rPr lang="en-US" dirty="0"/>
              <a:t> Macro</a:t>
            </a:r>
            <a:r>
              <a:rPr dirty="0"/>
              <a:t> no Wine dataset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 → Classes </a:t>
            </a:r>
            <a:r>
              <a:rPr dirty="0" err="1"/>
              <a:t>bem</a:t>
            </a:r>
            <a:r>
              <a:rPr dirty="0"/>
              <a:t> </a:t>
            </a:r>
            <a:r>
              <a:rPr dirty="0" err="1"/>
              <a:t>separadas</a:t>
            </a:r>
            <a:r>
              <a:rPr dirty="0"/>
              <a:t> no </a:t>
            </a:r>
            <a:r>
              <a:rPr dirty="0" err="1"/>
              <a:t>espaço</a:t>
            </a:r>
            <a:r>
              <a:rPr dirty="0"/>
              <a:t> de features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  → Dataset </a:t>
            </a:r>
            <a:r>
              <a:rPr dirty="0" err="1"/>
              <a:t>pequeno</a:t>
            </a:r>
            <a:r>
              <a:rPr dirty="0"/>
              <a:t> mas de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qualidad</a:t>
            </a:r>
            <a:r>
              <a:rPr lang="en-US" dirty="0" err="1"/>
              <a:t>e</a:t>
            </a:r>
            <a:endParaRPr lang="en-US" dirty="0"/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pt-BR" dirty="0"/>
              <a:t>    → Alguns modelos tiveram pior resultado após optimizacao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F7B56E-ACF3-E7EA-E135-B3E009A90B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013709"/>
              </p:ext>
            </p:extLst>
          </p:nvPr>
        </p:nvGraphicFramePr>
        <p:xfrm>
          <a:off x="536028" y="4564117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16299841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 err="1"/>
                        <a:t>Método</a:t>
                      </a:r>
                      <a:endParaRPr dirty="0"/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Logistic</a:t>
                      </a:r>
                      <a:endParaRPr dirty="0"/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 err="1"/>
                        <a:t>XGBoost</a:t>
                      </a:r>
                      <a:endParaRPr dirty="0"/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 err="1"/>
                        <a:t>RandomForest</a:t>
                      </a:r>
                      <a:endParaRPr dirty="0"/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SVM</a:t>
                      </a:r>
                      <a:endParaRPr dirty="0"/>
                    </a:p>
                  </a:txBody>
                  <a:tcPr>
                    <a:solidFill>
                      <a:srgbClr val="2C5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Baseline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0.9710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1.0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1.0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0.9710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 err="1"/>
                        <a:t>Optuna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0.9796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0.9789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0.9789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lang="en-US" dirty="0"/>
                        <a:t>0.9727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 err="1"/>
              <a:t>Obrigado</a:t>
            </a:r>
            <a:r>
              <a:rPr lang="en-US" dirty="0"/>
              <a:t> pela </a:t>
            </a:r>
            <a:r>
              <a:rPr lang="en-US" dirty="0" err="1"/>
              <a:t>vossa</a:t>
            </a:r>
            <a:r>
              <a:rPr lang="en-US" dirty="0"/>
              <a:t> </a:t>
            </a:r>
            <a:r>
              <a:rPr lang="en-US" dirty="0" err="1"/>
              <a:t>atenção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1756</Words>
  <Application>Microsoft Office PowerPoint</Application>
  <PresentationFormat>Widescreen</PresentationFormat>
  <Paragraphs>242</Paragraphs>
  <Slides>26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-apple-system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Luís Brás</cp:lastModifiedBy>
  <cp:revision>53</cp:revision>
  <dcterms:created xsi:type="dcterms:W3CDTF">2013-01-27T09:14:16Z</dcterms:created>
  <dcterms:modified xsi:type="dcterms:W3CDTF">2026-05-31T23:46:00Z</dcterms:modified>
  <cp:category/>
</cp:coreProperties>
</file>