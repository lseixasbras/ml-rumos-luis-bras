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8"/>
  </p:notesMasterIdLst>
  <p:sldIdLst>
    <p:sldId id="256" r:id="rId2"/>
    <p:sldId id="257" r:id="rId3"/>
    <p:sldId id="258" r:id="rId4"/>
    <p:sldId id="285" r:id="rId5"/>
    <p:sldId id="259" r:id="rId6"/>
    <p:sldId id="286" r:id="rId7"/>
    <p:sldId id="260" r:id="rId8"/>
    <p:sldId id="261" r:id="rId9"/>
    <p:sldId id="263" r:id="rId10"/>
    <p:sldId id="288" r:id="rId11"/>
    <p:sldId id="289" r:id="rId12"/>
    <p:sldId id="290" r:id="rId13"/>
    <p:sldId id="291" r:id="rId14"/>
    <p:sldId id="264" r:id="rId15"/>
    <p:sldId id="267" r:id="rId16"/>
    <p:sldId id="268" r:id="rId17"/>
    <p:sldId id="270" r:id="rId18"/>
    <p:sldId id="271" r:id="rId19"/>
    <p:sldId id="272" r:id="rId20"/>
    <p:sldId id="273" r:id="rId21"/>
    <p:sldId id="274" r:id="rId22"/>
    <p:sldId id="276" r:id="rId23"/>
    <p:sldId id="277" r:id="rId24"/>
    <p:sldId id="281" r:id="rId25"/>
    <p:sldId id="283" r:id="rId26"/>
    <p:sldId id="284" r:id="rId2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77966" autoAdjust="0"/>
  </p:normalViewPr>
  <p:slideViewPr>
    <p:cSldViewPr snapToGrid="0" snapToObjects="1">
      <p:cViewPr varScale="1">
        <p:scale>
          <a:sx n="75" d="100"/>
          <a:sy n="75" d="100"/>
        </p:scale>
        <p:origin x="1380" y="3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798D0C1-C2ED-41E6-A16A-129D089D71E0}" type="datetimeFigureOut">
              <a:rPr lang="en-US" smtClean="0"/>
              <a:t>6/1/2026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17EA878-87F4-4811-8C6C-83CB5CDC59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674170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17EA878-87F4-4811-8C6C-83CB5CDC59F1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984596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Cada boxplot compara </a:t>
            </a:r>
            <a:r>
              <a:rPr lang="pt-BR" b="1" dirty="0"/>
              <a:t>como os valores de uma feature se distribuem entre as três cultivares</a:t>
            </a:r>
            <a:r>
              <a:rPr lang="pt-BR" dirty="0"/>
              <a:t>. Se as caixas estão bem separadas, essa feature é boa para distinguir classes. Se se sobrepõem muito, essa feature sozinha não ajuda tanto. Há features com separação clara suficiente para que os modelos consigam aprender as fronteiras entre classes.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17EA878-87F4-4811-8C6C-83CB5CDC59F1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408669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53BBBD-CB10-B0BE-9419-A6A2DEFD53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868D277-37D2-7133-319F-F10A6FA9680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D9967A1-6054-5A6E-F499-EB71BBFA214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Estes histogramas mostram como os valores de cada feature se distribuem ao longo de todas as amostras. O objetivo é perceber a forma dos dados antes de os alimentar aos modelos.</a:t>
            </a:r>
          </a:p>
          <a:p>
            <a:r>
              <a:rPr lang="pt-BR" dirty="0"/>
              <a:t>Features como flavanoids, proline e od280_od315 apresentam dois picos distintos — o que indica que diferentes cultivares se concentram em zonas de valores diferentes. Isto é um bom indicador de que estas features poderao ser úteis para a classificação. </a:t>
            </a:r>
          </a:p>
          <a:p>
            <a:r>
              <a:rPr lang="pt-BR" dirty="0"/>
              <a:t>Nenhuma feature apresenta uma distribuição uniforme, o que confirma que todas contêm alguma estrutura informativa.</a:t>
            </a:r>
          </a:p>
          <a:p>
            <a:endParaRPr lang="pt-BR" dirty="0"/>
          </a:p>
          <a:p>
            <a:r>
              <a:rPr lang="pt-BR" dirty="0"/>
              <a:t>Features como malic_acid, magnesium e color_intensity são enviesadas à direita, com caudas longas. Isto influencia a escolha do método de normalização e pode justificar a aplicação de transformações logarítmicas.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9499DC1-A18C-77C2-CC07-AAFD1DD5FE8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17EA878-87F4-4811-8C6C-83CB5CDC59F1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804233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008CF6-EE0C-15DE-8083-EB43195A19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BF6079B-8FEB-416B-5151-87CBCF83188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09E21DB-BF98-DF81-1E55-B60FA3BFCAF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Da leitura da da tabela do lado esquerdo, confirmamos quais features mais se correlacionam com a classe, sendo flavanoids (-0.85), od280_od315 (-0.79), total_phenols (-0.72), proline (-0.63) e hue (-0.62) os mais fortes. O segundo ponto importante é a </a:t>
            </a:r>
            <a:r>
              <a:rPr lang="pt-BR" b="1" dirty="0"/>
              <a:t>multicolinearidade</a:t>
            </a:r>
            <a:r>
              <a:rPr lang="pt-BR" dirty="0"/>
              <a:t>: total_phenols e flavanoids têm uma correlação de 0.86, o que significa que medem coisas muito semelhantes. </a:t>
            </a:r>
          </a:p>
          <a:p>
            <a:r>
              <a:rPr lang="pt-BR" dirty="0"/>
              <a:t>Isto é relevante porque modelos como a Logistic Regression podem ser instáveis quando recebem features altamente correlacionadas, enquanto o Random Forest e o XGBoost não são afetados.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943B381-297F-7EA4-F14C-9F7F3A73A12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17EA878-87F4-4811-8C6C-83CB5CDC59F1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586958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1E1BA6-5C6F-7140-948D-19C526ED8C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51FAA48-2C6F-E601-802B-813A8BCB36C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3670F3D-2466-1CE7-6214-FBEF941D344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O diagrama da esquerda mostra quanta variância cada componente principal captura. A primeira componente (PC1) explica 36.2% da variância e a segunda (PC2) 19.2%. Juntas, as duas primeiras componentes capturam cerca de 55% da informação total. A linha vermelha mostra que são necessárias aproximadamente 10 componentes para atingir o limiar de 95%, o que significa que poderíamos reduzir de 13 para 10 dimensões sem perda significativa de informação. </a:t>
            </a:r>
          </a:p>
          <a:p>
            <a:r>
              <a:rPr lang="pt-BR" dirty="0"/>
              <a:t>À direita temos a projeção dos dados usando apenas essas duas componentes. Cada ponto é uma amostra de vinho, colorida por cultivar. Conseguimos observar que as três classes formam grupos visualmente separados. </a:t>
            </a:r>
          </a:p>
          <a:p>
            <a:r>
              <a:rPr lang="pt-BR" dirty="0"/>
              <a:t>Em resumo, o PCA confirma que o problema é bem estruturado e que a classificação é viável, mesmo com uma redução significativa de dimensionalidade.</a:t>
            </a:r>
          </a:p>
          <a:p>
            <a:r>
              <a:rPr lang="pt-BR" dirty="0"/>
              <a:t>------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Existe alguma sobreposição entre estas duas últimas, o que sugere que é nessa fronteira que os modelos mais complexos poderão fazer a diferença face à Logistic Regression.</a:t>
            </a:r>
          </a:p>
          <a:p>
            <a:endParaRPr lang="pt-BR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90FB95B-1325-E2CA-8F5F-CC66654A3EC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17EA878-87F4-4811-8C6C-83CB5CDC59F1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758482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rPr lang="pt-BR" dirty="0"/>
              <a:t>NÃO LER!!!!!!!!!!!!!!</a:t>
            </a:r>
          </a:p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rPr lang="pt-BR" dirty="0"/>
              <a:t>Com apenas 178 amostras, 30% deixaria só 124 para treino</a:t>
            </a:r>
          </a:p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rPr lang="pt-BR" dirty="0"/>
              <a:t>• Com 20%, mantemos 142 amostras de treino</a:t>
            </a:r>
          </a:p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rPr lang="pt-BR" dirty="0"/>
              <a:t>• 36 amostras de teste ainda permitem avaliação significativa</a:t>
            </a:r>
          </a:p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rPr lang="pt-BR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5 fold = 1 fold é usado para validação e os outros 4 para treino</a:t>
            </a:r>
          </a:p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endParaRPr lang="pt-BR" dirty="0"/>
          </a:p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rPr lang="pt-BR" dirty="0"/>
              <a:t>A estratificacao permite tentar manter um equilibrio entre a distribuicao das diferentes classes.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17EA878-87F4-4811-8C6C-83CB5CDC59F1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384383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17EA878-87F4-4811-8C6C-83CB5CDC59F1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17020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17EA878-87F4-4811-8C6C-83CB5CDC59F1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190155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17EA878-87F4-4811-8C6C-83CB5CDC59F1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245295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A otimização está a ser realizada sobre folds reduzidos, e pode encontrar parâmetros que generalizam melhor, mas neste dataset específico não superam os defaults.</a:t>
            </a:r>
          </a:p>
          <a:p>
            <a:endParaRPr lang="pt-BR" dirty="0"/>
          </a:p>
          <a:p>
            <a:r>
              <a:rPr lang="pt-BR" dirty="0"/>
              <a:t>Ao explorar combinações de hiperparâmetros mais restritivas, como limitar a profundidade das árvores ou aumentar a regularização, pode introduzir restrições que o modelo original não precisava.</a:t>
            </a:r>
          </a:p>
          <a:p>
            <a:endParaRPr lang="pt-BR" dirty="0"/>
          </a:p>
          <a:p>
            <a:r>
              <a:rPr lang="pt-BR" dirty="0"/>
              <a:t>-------------------------------------------------</a:t>
            </a:r>
            <a:br>
              <a:rPr lang="pt-BR" dirty="0"/>
            </a:br>
            <a:br>
              <a:rPr lang="pt-BR" dirty="0"/>
            </a:br>
            <a:r>
              <a:rPr lang="pt-BR" dirty="0"/>
              <a:t>O motivo pelo qual isto pode acontecer é que o Wine dataset é pequeno e com classes bem separadas, o que faz com que os parâmetros por defeito já sejam suficientes para classificar. Neste cenário, a otimização não tem margem para melhorar — e ao explorar combinações de hiperparâmetros mais restritivas, como limitar a profundidade das árvores ou aumentar a regularização, pode introduzir restrições que o modelo original não precisava.</a:t>
            </a:r>
          </a:p>
          <a:p>
            <a:r>
              <a:rPr lang="pt-BR" dirty="0"/>
              <a:t>Com apenas 178 amostras, os folds de cross-validation são pequenos. Basta uma ou duas amostras serem mal classificadas num fold para o F1 descer de 1.0 para 0.97. </a:t>
            </a:r>
          </a:p>
          <a:p>
            <a:r>
              <a:rPr lang="pt-BR" dirty="0"/>
              <a:t>Isto não é um erro — é na verdade um sinal de que o problema é simples o suficiente para não necessitar de tuning agressivo. E reforça a conclusão de que as classes do Wine dataset são naturalmente bem separáveis.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17EA878-87F4-4811-8C6C-83CB5CDC59F1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993735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hyperlink" Target="https://archive.ics.uci.edu/dataset/109/wine" TargetMode="Externa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6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9.png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3A5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2286000"/>
            <a:ext cx="10058400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</a:defRPr>
            </a:pPr>
            <a:r>
              <a:rPr dirty="0"/>
              <a:t>Classificação de Vinhos — UCI Wine Dataset</a:t>
            </a:r>
          </a:p>
          <a:p>
            <a:pPr algn="ctr">
              <a:defRPr sz="2000">
                <a:solidFill>
                  <a:srgbClr val="BBDEFB"/>
                </a:solidFill>
              </a:defRPr>
            </a:pPr>
            <a:endParaRPr lang="en-US" dirty="0"/>
          </a:p>
          <a:p>
            <a:pPr algn="ctr">
              <a:defRPr sz="2000">
                <a:solidFill>
                  <a:srgbClr val="BBDEFB"/>
                </a:solidFill>
              </a:defRPr>
            </a:pPr>
            <a:endParaRPr lang="en-US" dirty="0"/>
          </a:p>
        </p:txBody>
      </p:sp>
      <p:cxnSp>
        <p:nvCxnSpPr>
          <p:cNvPr id="3" name="Conexão reta 5">
            <a:extLst>
              <a:ext uri="{FF2B5EF4-FFF2-40B4-BE49-F238E27FC236}">
                <a16:creationId xmlns:a16="http://schemas.microsoft.com/office/drawing/2014/main" id="{FFC2B9E4-0790-EBE7-E0B6-E4F26D422C46}"/>
              </a:ext>
            </a:extLst>
          </p:cNvPr>
          <p:cNvCxnSpPr/>
          <p:nvPr/>
        </p:nvCxnSpPr>
        <p:spPr>
          <a:xfrm>
            <a:off x="416652" y="4816760"/>
            <a:ext cx="11358693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386363D8-9999-70A9-6645-27A62DA17D7C}"/>
              </a:ext>
            </a:extLst>
          </p:cNvPr>
          <p:cNvSpPr txBox="1"/>
          <p:nvPr/>
        </p:nvSpPr>
        <p:spPr>
          <a:xfrm>
            <a:off x="2957840" y="5121987"/>
            <a:ext cx="6097162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>
                <a:solidFill>
                  <a:srgbClr val="BBDEFB"/>
                </a:solidFill>
              </a:defRPr>
            </a:pPr>
            <a:r>
              <a:rPr lang="en-US" dirty="0"/>
              <a:t>Luís Brás</a:t>
            </a:r>
          </a:p>
          <a:p>
            <a:pPr algn="ctr">
              <a:defRPr sz="2000">
                <a:solidFill>
                  <a:srgbClr val="BBDEFB"/>
                </a:solidFill>
              </a:defRPr>
            </a:pPr>
            <a:r>
              <a:rPr lang="en-US" dirty="0"/>
              <a:t>1 de Junho 2026</a:t>
            </a:r>
          </a:p>
        </p:txBody>
      </p:sp>
      <p:sp>
        <p:nvSpPr>
          <p:cNvPr id="6" name="CaixaDeTexto 10">
            <a:extLst>
              <a:ext uri="{FF2B5EF4-FFF2-40B4-BE49-F238E27FC236}">
                <a16:creationId xmlns:a16="http://schemas.microsoft.com/office/drawing/2014/main" id="{539049F8-B6B1-AF66-9006-841C75D18A65}"/>
              </a:ext>
            </a:extLst>
          </p:cNvPr>
          <p:cNvSpPr txBox="1"/>
          <p:nvPr/>
        </p:nvSpPr>
        <p:spPr>
          <a:xfrm>
            <a:off x="1004566" y="4158120"/>
            <a:ext cx="10058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PT" dirty="0">
                <a:solidFill>
                  <a:schemeClr val="bg1"/>
                </a:solidFill>
              </a:rPr>
              <a:t>Apresentação Curso </a:t>
            </a:r>
            <a:r>
              <a:rPr lang="pt-PT" dirty="0" err="1">
                <a:solidFill>
                  <a:schemeClr val="bg1"/>
                </a:solidFill>
              </a:rPr>
              <a:t>Machine</a:t>
            </a:r>
            <a:r>
              <a:rPr lang="pt-PT" dirty="0">
                <a:solidFill>
                  <a:schemeClr val="bg1"/>
                </a:solidFill>
              </a:rPr>
              <a:t> </a:t>
            </a:r>
            <a:r>
              <a:rPr lang="pt-PT" dirty="0" err="1">
                <a:solidFill>
                  <a:schemeClr val="bg1"/>
                </a:solidFill>
              </a:rPr>
              <a:t>Learning</a:t>
            </a:r>
            <a:r>
              <a:rPr lang="pt-PT" dirty="0">
                <a:solidFill>
                  <a:schemeClr val="bg1"/>
                </a:solidFill>
              </a:rPr>
              <a:t> </a:t>
            </a:r>
            <a:r>
              <a:rPr lang="pt-PT" dirty="0" err="1">
                <a:solidFill>
                  <a:schemeClr val="bg1"/>
                </a:solidFill>
              </a:rPr>
              <a:t>Engineer</a:t>
            </a:r>
            <a:r>
              <a:rPr lang="pt-PT" dirty="0">
                <a:solidFill>
                  <a:schemeClr val="bg1"/>
                </a:solidFill>
              </a:rPr>
              <a:t> 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3821303" cy="49244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rPr lang="en-US" dirty="0" err="1"/>
              <a:t>Estrutura</a:t>
            </a:r>
            <a:r>
              <a:rPr lang="en-US" dirty="0"/>
              <a:t> da </a:t>
            </a:r>
            <a:r>
              <a:rPr lang="en-US" dirty="0" err="1"/>
              <a:t>apresentação</a:t>
            </a:r>
            <a:endParaRPr dirty="0"/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515600" cy="22672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rPr dirty="0"/>
              <a:t>1. </a:t>
            </a:r>
            <a:r>
              <a:rPr dirty="0" err="1"/>
              <a:t>Preparação</a:t>
            </a:r>
            <a:r>
              <a:rPr dirty="0"/>
              <a:t> dos Dados (</a:t>
            </a:r>
            <a:r>
              <a:rPr dirty="0" err="1"/>
              <a:t>Validação</a:t>
            </a:r>
            <a:r>
              <a:rPr dirty="0"/>
              <a:t> e Pré-</a:t>
            </a:r>
            <a:r>
              <a:rPr dirty="0" err="1"/>
              <a:t>processamento</a:t>
            </a:r>
            <a:r>
              <a:rPr dirty="0"/>
              <a:t>)</a:t>
            </a:r>
          </a:p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rPr dirty="0"/>
              <a:t>2. </a:t>
            </a:r>
            <a:r>
              <a:rPr dirty="0" err="1"/>
              <a:t>Análise</a:t>
            </a:r>
            <a:r>
              <a:rPr dirty="0"/>
              <a:t> </a:t>
            </a:r>
            <a:r>
              <a:rPr dirty="0" err="1"/>
              <a:t>Exploratória</a:t>
            </a:r>
            <a:r>
              <a:rPr dirty="0"/>
              <a:t> de</a:t>
            </a:r>
            <a:r>
              <a:rPr lang="en-US" dirty="0"/>
              <a:t> dados</a:t>
            </a:r>
            <a:endParaRPr dirty="0"/>
          </a:p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rPr dirty="0"/>
              <a:t>3. </a:t>
            </a:r>
            <a:r>
              <a:rPr dirty="0" err="1"/>
              <a:t>Parâmetros</a:t>
            </a:r>
            <a:r>
              <a:rPr dirty="0"/>
              <a:t> de </a:t>
            </a:r>
            <a:r>
              <a:rPr dirty="0" err="1"/>
              <a:t>Treino</a:t>
            </a:r>
            <a:endParaRPr dirty="0"/>
          </a:p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rPr dirty="0"/>
              <a:t>4. </a:t>
            </a:r>
            <a:r>
              <a:rPr dirty="0" err="1"/>
              <a:t>Seleção</a:t>
            </a:r>
            <a:r>
              <a:rPr dirty="0"/>
              <a:t> de </a:t>
            </a:r>
            <a:r>
              <a:rPr dirty="0" err="1"/>
              <a:t>Modelos</a:t>
            </a:r>
            <a:endParaRPr dirty="0"/>
          </a:p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rPr dirty="0"/>
              <a:t>5. </a:t>
            </a:r>
            <a:r>
              <a:rPr dirty="0" err="1"/>
              <a:t>Critérios</a:t>
            </a:r>
            <a:r>
              <a:rPr dirty="0"/>
              <a:t> de </a:t>
            </a:r>
            <a:r>
              <a:rPr dirty="0" err="1"/>
              <a:t>Seleção</a:t>
            </a:r>
            <a:r>
              <a:rPr dirty="0"/>
              <a:t> do </a:t>
            </a:r>
            <a:r>
              <a:rPr dirty="0" err="1"/>
              <a:t>Melhor</a:t>
            </a:r>
            <a:r>
              <a:rPr dirty="0"/>
              <a:t> Modelo</a:t>
            </a:r>
          </a:p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rPr dirty="0"/>
              <a:t>6. </a:t>
            </a:r>
            <a:r>
              <a:rPr dirty="0" err="1"/>
              <a:t>Otimização</a:t>
            </a:r>
            <a:r>
              <a:rPr dirty="0"/>
              <a:t> (</a:t>
            </a:r>
            <a:r>
              <a:rPr dirty="0" err="1"/>
              <a:t>Optuna</a:t>
            </a:r>
            <a:r>
              <a:rPr dirty="0"/>
              <a:t>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C5F8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2560320"/>
            <a:ext cx="100584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1. Preparação dos Dados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B55DEA-F87E-4E9D-7FCF-73343F5700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DD7A39F2-E1A5-B832-EC85-2DD70C7153B0}"/>
              </a:ext>
            </a:extLst>
          </p:cNvPr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6848F2D-D5A7-14B9-8449-6E8FAD629023}"/>
              </a:ext>
            </a:extLst>
          </p:cNvPr>
          <p:cNvSpPr txBox="1"/>
          <p:nvPr/>
        </p:nvSpPr>
        <p:spPr>
          <a:xfrm>
            <a:off x="457200" y="13716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rPr dirty="0" err="1"/>
              <a:t>Resumo</a:t>
            </a:r>
            <a:r>
              <a:rPr dirty="0"/>
              <a:t> do Dataset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659EDA8-54C5-5E52-0C43-039ABFA36470}"/>
              </a:ext>
            </a:extLst>
          </p:cNvPr>
          <p:cNvSpPr txBox="1"/>
          <p:nvPr/>
        </p:nvSpPr>
        <p:spPr>
          <a:xfrm>
            <a:off x="731520" y="1280160"/>
            <a:ext cx="10515600" cy="30264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rPr dirty="0"/>
              <a:t>• Fonte: UCI Machine Learning Repository</a:t>
            </a:r>
            <a:r>
              <a:rPr lang="en-US" dirty="0"/>
              <a:t> - </a:t>
            </a:r>
            <a:r>
              <a:rPr lang="en-US" dirty="0">
                <a:hlinkClick r:id="rId2"/>
              </a:rPr>
              <a:t>https://archive.ics.uci.edu/dataset/109/wine</a:t>
            </a:r>
            <a:endParaRPr lang="en-US" dirty="0"/>
          </a:p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rPr dirty="0"/>
              <a:t>• 178 </a:t>
            </a:r>
            <a:r>
              <a:rPr dirty="0" err="1"/>
              <a:t>amostras</a:t>
            </a:r>
            <a:r>
              <a:rPr dirty="0"/>
              <a:t>, 13 features </a:t>
            </a:r>
            <a:r>
              <a:rPr dirty="0" err="1"/>
              <a:t>contínuas</a:t>
            </a:r>
            <a:r>
              <a:rPr dirty="0"/>
              <a:t>, 3 classes (</a:t>
            </a:r>
            <a:r>
              <a:rPr dirty="0" err="1"/>
              <a:t>cultivares</a:t>
            </a:r>
            <a:r>
              <a:rPr lang="en-US" dirty="0"/>
              <a:t> </a:t>
            </a:r>
            <a:r>
              <a:rPr lang="en-US" dirty="0" err="1"/>
              <a:t>ou</a:t>
            </a:r>
            <a:r>
              <a:rPr lang="en-US" dirty="0"/>
              <a:t> </a:t>
            </a:r>
            <a:r>
              <a:rPr lang="en-US" dirty="0" err="1"/>
              <a:t>castas</a:t>
            </a:r>
            <a:r>
              <a:rPr lang="en-US" dirty="0"/>
              <a:t> </a:t>
            </a:r>
            <a:r>
              <a:rPr lang="en-US" dirty="0" err="1"/>
              <a:t>italianas</a:t>
            </a:r>
            <a:r>
              <a:rPr dirty="0"/>
              <a:t>)</a:t>
            </a:r>
          </a:p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rPr dirty="0"/>
              <a:t>• </a:t>
            </a:r>
            <a:r>
              <a:rPr dirty="0" err="1"/>
              <a:t>Distribuição</a:t>
            </a:r>
            <a:r>
              <a:rPr dirty="0"/>
              <a:t>: Cultivar 1: 59 (33%) | Cultivar 2: 71 (40%) | Cultivar 3: 48 (27%)</a:t>
            </a:r>
          </a:p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rPr dirty="0"/>
              <a:t>• Sem </a:t>
            </a:r>
            <a:r>
              <a:rPr dirty="0" err="1"/>
              <a:t>valores</a:t>
            </a:r>
            <a:r>
              <a:rPr dirty="0"/>
              <a:t> </a:t>
            </a:r>
            <a:r>
              <a:rPr dirty="0" err="1"/>
              <a:t>em</a:t>
            </a:r>
            <a:r>
              <a:rPr dirty="0"/>
              <a:t> </a:t>
            </a:r>
            <a:r>
              <a:rPr dirty="0" err="1"/>
              <a:t>falta</a:t>
            </a:r>
            <a:r>
              <a:rPr dirty="0"/>
              <a:t> (zero missing values)</a:t>
            </a:r>
          </a:p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rPr dirty="0"/>
              <a:t>• Escalas </a:t>
            </a:r>
            <a:r>
              <a:rPr dirty="0" err="1"/>
              <a:t>muito</a:t>
            </a:r>
            <a:r>
              <a:rPr dirty="0"/>
              <a:t> </a:t>
            </a:r>
            <a:r>
              <a:rPr dirty="0" err="1"/>
              <a:t>diferentes</a:t>
            </a:r>
            <a:r>
              <a:rPr dirty="0"/>
              <a:t> entre features:</a:t>
            </a:r>
          </a:p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rPr dirty="0"/>
              <a:t>    - Proline: 278–1680 | Hue: 0.48–1.71</a:t>
            </a:r>
            <a:endParaRPr lang="en-US" dirty="0"/>
          </a:p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endParaRPr lang="en-US" dirty="0"/>
          </a:p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60967607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2947153" cy="49244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rPr lang="en-US" dirty="0"/>
              <a:t>Features do </a:t>
            </a:r>
            <a:r>
              <a:rPr dirty="0"/>
              <a:t>Dataset</a:t>
            </a:r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A18AFD00-B97C-CD8D-F05D-15D94CD45EF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06594271"/>
              </p:ext>
            </p:extLst>
          </p:nvPr>
        </p:nvGraphicFramePr>
        <p:xfrm>
          <a:off x="673585" y="1253635"/>
          <a:ext cx="10697084" cy="5120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6792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3291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rPr lang="en-US" sz="1400" b="1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Feature</a:t>
                      </a:r>
                      <a:endParaRPr dirty="0"/>
                    </a:p>
                  </a:txBody>
                  <a:tcPr>
                    <a:solidFill>
                      <a:srgbClr val="2C5F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rPr lang="en-US" sz="1400" b="1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Descrição</a:t>
                      </a:r>
                      <a:endParaRPr dirty="0"/>
                    </a:p>
                  </a:txBody>
                  <a:tcPr>
                    <a:solidFill>
                      <a:srgbClr val="2C5F8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rPr lang="en-US" sz="13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alcohol</a:t>
                      </a:r>
                      <a:endParaRPr dirty="0"/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rPr lang="pt-BR" dirty="0"/>
                        <a:t>Teor alcoólico. Percentagem de álcool por volume. Varia tipicamente entre 11–15%.</a:t>
                      </a:r>
                      <a:endParaRPr dirty="0"/>
                    </a:p>
                  </a:txBody>
                  <a:tcPr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rPr lang="en-US" sz="13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malic_acid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rPr lang="pt-BR" sz="13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Ácido málico. Ácido orgânico presente nas uvas; mais elevado em climas frios.</a:t>
                      </a:r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rPr lang="en-US" sz="13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ash</a:t>
                      </a:r>
                      <a:endParaRPr dirty="0"/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rPr lang="pt-BR" dirty="0"/>
                        <a:t>Cinzas. Resíduo inorgânico após combustão; reflete o conteúdo mineral do vinho.</a:t>
                      </a:r>
                      <a:endParaRPr dirty="0"/>
                    </a:p>
                  </a:txBody>
                  <a:tcPr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rPr lang="en-US" sz="13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alcalinity_of_ash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rPr lang="pt-BR" dirty="0"/>
                        <a:t>Alcalinidade das cinzas. Mede os metais alcalino-terrosos presentes nas cinzas.</a:t>
                      </a:r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rPr lang="en-US" dirty="0"/>
                        <a:t>magnesium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rPr lang="en-US" dirty="0" err="1"/>
                        <a:t>Magnésio</a:t>
                      </a:r>
                      <a:r>
                        <a:rPr lang="en-US" dirty="0"/>
                        <a:t>. Mineral </a:t>
                      </a:r>
                      <a:r>
                        <a:rPr lang="en-US" dirty="0" err="1"/>
                        <a:t>essencial</a:t>
                      </a:r>
                      <a:r>
                        <a:rPr lang="en-US" dirty="0"/>
                        <a:t>; varia </a:t>
                      </a:r>
                      <a:r>
                        <a:rPr lang="en-US" dirty="0" err="1"/>
                        <a:t>conforme</a:t>
                      </a:r>
                      <a:r>
                        <a:rPr lang="en-US" dirty="0"/>
                        <a:t> o solo e a casta.</a:t>
                      </a:r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6369794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rPr lang="en-US" sz="130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total_phenols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rPr lang="pt-BR" dirty="0"/>
                        <a:t>Fenóis totais. Compostos antioxidantes que contribuem para a cor, sabor e sensação na boca.</a:t>
                      </a:r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7555133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rPr lang="en-US" sz="130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flavanoids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rPr lang="pt-BR" dirty="0"/>
                        <a:t>Flavonóides. Subclasse dos fenóis; principal contributo para a cor e sabor do vinho tinto.</a:t>
                      </a:r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65003184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rPr lang="en-US" sz="130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nonflavanoid_phenols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rPr lang="pt-BR" sz="13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Fenóis não flavonóides. Compostos fenólicos que não pertencem à classe dos flavonóides.</a:t>
                      </a:r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87551215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rPr lang="en-US" sz="13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proanthocyanins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rPr lang="pt-BR" sz="13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Proantocianinas. Compostos semelhantes a taninos; afetam a adstringência.</a:t>
                      </a:r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60471358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rPr lang="en-US" sz="130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color_intensity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rPr lang="pt-BR" sz="13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Intensidade da cor. Medição por densidade ótica; indica a riqueza e profundidade do vinho.</a:t>
                      </a:r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12982529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rPr lang="en-US" sz="13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hue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rPr lang="pt-BR" sz="13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Tonalidade. Razão de densidades óticas a diferentes comprimentos de onda; indica a idade/tipo do vinho.</a:t>
                      </a:r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92023605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rPr lang="en-US" sz="13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od280_od315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rPr lang="pt-BR" sz="13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OD280/OD315 de vinhos diluídos. Indicador do teor proteico através da razão de absorção ultravioleta.</a:t>
                      </a:r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8851839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rPr lang="en-US" sz="13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proline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rPr lang="pt-BR" sz="13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Prolina. Aminoácido; níveis mais elevados em vinhos de regiões quentes e secas.</a:t>
                      </a:r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64905679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477593-4F66-204E-EC18-5CABF10549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6C94F24C-E339-4656-5AB4-BB2B168484C1}"/>
              </a:ext>
            </a:extLst>
          </p:cNvPr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53B4AA2-CB59-6F59-3D18-A829F546552D}"/>
              </a:ext>
            </a:extLst>
          </p:cNvPr>
          <p:cNvSpPr txBox="1"/>
          <p:nvPr/>
        </p:nvSpPr>
        <p:spPr>
          <a:xfrm>
            <a:off x="457200" y="137160"/>
            <a:ext cx="5164875" cy="49244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rPr lang="pt-BR" dirty="0"/>
              <a:t>Intervalos de Validação das features</a:t>
            </a:r>
            <a:endParaRPr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60E99E6-8976-FD6C-E833-6D3D0DED3EC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4382" y="1143000"/>
            <a:ext cx="5689688" cy="3172268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5B69025D-7C8D-CA8A-DD87-BEE7E1867ED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8608" y="1143000"/>
            <a:ext cx="4629796" cy="4810796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7D6B3E53-DBD2-E500-0952-1906230C3B00}"/>
              </a:ext>
            </a:extLst>
          </p:cNvPr>
          <p:cNvSpPr txBox="1"/>
          <p:nvPr/>
        </p:nvSpPr>
        <p:spPr>
          <a:xfrm>
            <a:off x="264382" y="4931273"/>
            <a:ext cx="6139044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Tx/>
              <a:buChar char="-"/>
            </a:pPr>
            <a:r>
              <a:rPr lang="pt-BR" b="0" i="0" dirty="0">
                <a:effectLst/>
                <a:latin typeface="-apple-system"/>
              </a:rPr>
              <a:t>Os intervalos são definidos com </a:t>
            </a:r>
            <a:r>
              <a:rPr lang="pt-BR" b="1" i="0" dirty="0">
                <a:effectLst/>
                <a:latin typeface="-apple-system"/>
              </a:rPr>
              <a:t>~20-30% de margem</a:t>
            </a:r>
            <a:r>
              <a:rPr lang="pt-BR" b="0" i="0" dirty="0">
                <a:effectLst/>
                <a:latin typeface="-apple-system"/>
              </a:rPr>
              <a:t> além dos dados observados para permitir variação em novos vinhos</a:t>
            </a:r>
          </a:p>
          <a:p>
            <a:pPr marL="285750" indent="-285750">
              <a:buFontTx/>
              <a:buChar char="-"/>
            </a:pPr>
            <a:endParaRPr lang="pt-BR" dirty="0"/>
          </a:p>
          <a:p>
            <a:pPr marL="285750" indent="-285750">
              <a:buFontTx/>
              <a:buChar char="-"/>
            </a:pPr>
            <a:r>
              <a:rPr lang="pt-BR" dirty="0"/>
              <a:t>Valores negativos rejeitados (quantidades físicas/químicas)</a:t>
            </a:r>
            <a:endParaRPr lang="pt-BR" b="0" i="0" dirty="0">
              <a:effectLst/>
              <a:latin typeface="-apple-system"/>
            </a:endParaRPr>
          </a:p>
        </p:txBody>
      </p:sp>
    </p:spTree>
    <p:extLst>
      <p:ext uri="{BB962C8B-B14F-4D97-AF65-F5344CB8AC3E}">
        <p14:creationId xmlns:p14="http://schemas.microsoft.com/office/powerpoint/2010/main" val="308577196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Etapas de Pré-processamento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55214686"/>
              </p:ext>
            </p:extLst>
          </p:nvPr>
        </p:nvGraphicFramePr>
        <p:xfrm>
          <a:off x="457200" y="1371600"/>
          <a:ext cx="1124712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90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490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7490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rPr dirty="0"/>
                        <a:t>Etapa</a:t>
                      </a:r>
                    </a:p>
                  </a:txBody>
                  <a:tcPr>
                    <a:solidFill>
                      <a:srgbClr val="2C5F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Método</a:t>
                      </a:r>
                    </a:p>
                  </a:txBody>
                  <a:tcPr>
                    <a:solidFill>
                      <a:srgbClr val="2C5F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Justificação</a:t>
                      </a:r>
                    </a:p>
                  </a:txBody>
                  <a:tcPr>
                    <a:solidFill>
                      <a:srgbClr val="2C5F8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Standardização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StandardScaler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rPr dirty="0"/>
                        <a:t>Features com </a:t>
                      </a:r>
                      <a:r>
                        <a:rPr dirty="0" err="1"/>
                        <a:t>escalas</a:t>
                      </a:r>
                      <a:r>
                        <a:rPr dirty="0"/>
                        <a:t> </a:t>
                      </a:r>
                      <a:r>
                        <a:rPr dirty="0" err="1"/>
                        <a:t>muito</a:t>
                      </a:r>
                      <a:r>
                        <a:rPr dirty="0"/>
                        <a:t> </a:t>
                      </a:r>
                      <a:r>
                        <a:rPr dirty="0" err="1"/>
                        <a:t>diferentes</a:t>
                      </a:r>
                      <a:r>
                        <a:rPr dirty="0"/>
                        <a:t>; </a:t>
                      </a:r>
                      <a:r>
                        <a:rPr dirty="0" err="1"/>
                        <a:t>essencial</a:t>
                      </a:r>
                      <a:r>
                        <a:rPr dirty="0"/>
                        <a:t> para </a:t>
                      </a:r>
                      <a:r>
                        <a:rPr dirty="0" err="1"/>
                        <a:t>L</a:t>
                      </a:r>
                      <a:r>
                        <a:rPr lang="en-US" dirty="0" err="1"/>
                        <a:t>ogaritimic</a:t>
                      </a:r>
                      <a:r>
                        <a:rPr lang="en-US" dirty="0"/>
                        <a:t> Regression</a:t>
                      </a:r>
                      <a:r>
                        <a:rPr dirty="0"/>
                        <a:t> e SVM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rPr dirty="0"/>
                        <a:t>Encoding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Não necessário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rPr dirty="0" err="1"/>
                        <a:t>Todas</a:t>
                      </a:r>
                      <a:r>
                        <a:rPr dirty="0"/>
                        <a:t> as features </a:t>
                      </a:r>
                      <a:r>
                        <a:rPr dirty="0" err="1"/>
                        <a:t>são</a:t>
                      </a:r>
                      <a:r>
                        <a:rPr dirty="0"/>
                        <a:t> </a:t>
                      </a:r>
                      <a:r>
                        <a:rPr dirty="0" err="1"/>
                        <a:t>numéricas</a:t>
                      </a:r>
                      <a:r>
                        <a:rPr dirty="0"/>
                        <a:t> </a:t>
                      </a:r>
                      <a:r>
                        <a:rPr dirty="0" err="1"/>
                        <a:t>contínuas</a:t>
                      </a:r>
                      <a:r>
                        <a:rPr lang="en-US" dirty="0"/>
                        <a:t>. </a:t>
                      </a:r>
                      <a:r>
                        <a:rPr lang="pt-BR" sz="13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 target já está codificado como inteiro (0/1/2).</a:t>
                      </a:r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Imputação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Não necessário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Zero valores em falta no dataset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Outliers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rPr dirty="0" err="1"/>
                        <a:t>Mantidos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rPr dirty="0"/>
                        <a:t>Com 178 </a:t>
                      </a:r>
                      <a:r>
                        <a:rPr dirty="0" err="1"/>
                        <a:t>amostras</a:t>
                      </a:r>
                      <a:r>
                        <a:rPr dirty="0"/>
                        <a:t>, remover outliers </a:t>
                      </a:r>
                      <a:r>
                        <a:rPr lang="en-US" dirty="0" err="1"/>
                        <a:t>poderia</a:t>
                      </a:r>
                      <a:r>
                        <a:rPr lang="en-US" dirty="0"/>
                        <a:t> </a:t>
                      </a:r>
                      <a:r>
                        <a:rPr lang="en-US" dirty="0" err="1"/>
                        <a:t>implicar</a:t>
                      </a:r>
                      <a:r>
                        <a:rPr lang="en-US" dirty="0"/>
                        <a:t> </a:t>
                      </a:r>
                      <a:r>
                        <a:rPr lang="en-US" dirty="0" err="1"/>
                        <a:t>perda</a:t>
                      </a:r>
                      <a:r>
                        <a:rPr dirty="0"/>
                        <a:t> </a:t>
                      </a:r>
                      <a:r>
                        <a:rPr dirty="0" err="1"/>
                        <a:t>informação</a:t>
                      </a:r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StandardScaler vs MinMaxScaler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5156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rPr dirty="0"/>
              <a:t>• </a:t>
            </a:r>
            <a:r>
              <a:rPr dirty="0" err="1"/>
              <a:t>StandardScaler</a:t>
            </a:r>
            <a:r>
              <a:rPr dirty="0"/>
              <a:t> (</a:t>
            </a:r>
            <a:r>
              <a:rPr dirty="0" err="1"/>
              <a:t>escolhido</a:t>
            </a:r>
            <a:r>
              <a:rPr dirty="0"/>
              <a:t>): </a:t>
            </a:r>
            <a:r>
              <a:rPr dirty="0" err="1"/>
              <a:t>média</a:t>
            </a:r>
            <a:r>
              <a:rPr dirty="0"/>
              <a:t>=0, </a:t>
            </a:r>
            <a:r>
              <a:rPr dirty="0" err="1"/>
              <a:t>variância</a:t>
            </a:r>
            <a:r>
              <a:rPr dirty="0"/>
              <a:t>=1</a:t>
            </a:r>
          </a:p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rPr dirty="0"/>
              <a:t>    → Robusto a outliers (proline </a:t>
            </a:r>
            <a:r>
              <a:rPr dirty="0" err="1"/>
              <a:t>tem</a:t>
            </a:r>
            <a:r>
              <a:rPr dirty="0"/>
              <a:t> </a:t>
            </a:r>
            <a:r>
              <a:rPr dirty="0" err="1"/>
              <a:t>alta</a:t>
            </a:r>
            <a:r>
              <a:rPr dirty="0"/>
              <a:t> </a:t>
            </a:r>
            <a:r>
              <a:rPr dirty="0" err="1"/>
              <a:t>variância</a:t>
            </a:r>
            <a:r>
              <a:rPr dirty="0"/>
              <a:t>)</a:t>
            </a:r>
          </a:p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rPr dirty="0"/>
              <a:t>    → </a:t>
            </a:r>
            <a:r>
              <a:rPr dirty="0" err="1"/>
              <a:t>Melhor</a:t>
            </a:r>
            <a:r>
              <a:rPr dirty="0"/>
              <a:t> para SVM com kernel RBF e Logistic Regression</a:t>
            </a:r>
          </a:p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endParaRPr dirty="0"/>
          </a:p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rPr dirty="0"/>
              <a:t>• </a:t>
            </a:r>
            <a:r>
              <a:rPr dirty="0" err="1"/>
              <a:t>MinMaxScaler</a:t>
            </a:r>
            <a:r>
              <a:rPr dirty="0"/>
              <a:t> (</a:t>
            </a:r>
            <a:r>
              <a:rPr dirty="0" err="1"/>
              <a:t>descartado</a:t>
            </a:r>
            <a:r>
              <a:rPr dirty="0"/>
              <a:t>): </a:t>
            </a:r>
            <a:r>
              <a:rPr dirty="0" err="1"/>
              <a:t>comprime</a:t>
            </a:r>
            <a:r>
              <a:rPr dirty="0"/>
              <a:t> para [0,1]</a:t>
            </a:r>
          </a:p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rPr dirty="0"/>
              <a:t>    → </a:t>
            </a:r>
            <a:r>
              <a:rPr dirty="0" err="1"/>
              <a:t>Sensível</a:t>
            </a:r>
            <a:r>
              <a:rPr dirty="0"/>
              <a:t> a </a:t>
            </a:r>
            <a:r>
              <a:rPr dirty="0" err="1"/>
              <a:t>valores</a:t>
            </a:r>
            <a:r>
              <a:rPr dirty="0"/>
              <a:t> </a:t>
            </a:r>
            <a:r>
              <a:rPr dirty="0" err="1"/>
              <a:t>extremos</a:t>
            </a:r>
            <a:endParaRPr dirty="0"/>
          </a:p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rPr dirty="0"/>
              <a:t>    → Menos </a:t>
            </a:r>
            <a:r>
              <a:rPr dirty="0" err="1"/>
              <a:t>adequado</a:t>
            </a:r>
            <a:r>
              <a:rPr dirty="0"/>
              <a:t> </a:t>
            </a:r>
            <a:r>
              <a:rPr dirty="0" err="1"/>
              <a:t>quando</a:t>
            </a:r>
            <a:r>
              <a:rPr dirty="0"/>
              <a:t> </a:t>
            </a:r>
            <a:r>
              <a:rPr dirty="0" err="1"/>
              <a:t>há</a:t>
            </a:r>
            <a:r>
              <a:rPr dirty="0"/>
              <a:t> outliers</a:t>
            </a:r>
          </a:p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endParaRPr dirty="0"/>
          </a:p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rPr dirty="0"/>
              <a:t>• Random Forest e </a:t>
            </a:r>
            <a:r>
              <a:rPr dirty="0" err="1"/>
              <a:t>XGBoost</a:t>
            </a:r>
            <a:r>
              <a:rPr dirty="0"/>
              <a:t>: </a:t>
            </a:r>
            <a:r>
              <a:rPr dirty="0" err="1"/>
              <a:t>invariantes</a:t>
            </a:r>
            <a:r>
              <a:rPr dirty="0"/>
              <a:t> à </a:t>
            </a:r>
            <a:r>
              <a:rPr dirty="0" err="1"/>
              <a:t>escala</a:t>
            </a:r>
            <a:endParaRPr dirty="0"/>
          </a:p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rPr dirty="0"/>
              <a:t>    → Scaling </a:t>
            </a:r>
            <a:r>
              <a:rPr dirty="0" err="1"/>
              <a:t>não</a:t>
            </a:r>
            <a:r>
              <a:rPr dirty="0"/>
              <a:t> </a:t>
            </a:r>
            <a:r>
              <a:rPr dirty="0" err="1"/>
              <a:t>prejudica</a:t>
            </a:r>
            <a:r>
              <a:rPr dirty="0"/>
              <a:t> mas </a:t>
            </a:r>
            <a:r>
              <a:rPr dirty="0" err="1"/>
              <a:t>também</a:t>
            </a:r>
            <a:r>
              <a:rPr dirty="0"/>
              <a:t> </a:t>
            </a:r>
            <a:r>
              <a:rPr dirty="0" err="1"/>
              <a:t>não</a:t>
            </a:r>
            <a:r>
              <a:rPr dirty="0"/>
              <a:t> </a:t>
            </a:r>
            <a:r>
              <a:rPr dirty="0" err="1"/>
              <a:t>ajuda</a:t>
            </a:r>
            <a:endParaRPr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C5F8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778150" y="2560320"/>
            <a:ext cx="6330900" cy="64633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rPr dirty="0"/>
              <a:t>2. </a:t>
            </a:r>
            <a:r>
              <a:rPr dirty="0" err="1"/>
              <a:t>Análise</a:t>
            </a:r>
            <a:r>
              <a:rPr dirty="0"/>
              <a:t> </a:t>
            </a:r>
            <a:r>
              <a:rPr dirty="0" err="1"/>
              <a:t>Exploratória</a:t>
            </a:r>
            <a:r>
              <a:rPr dirty="0"/>
              <a:t> de </a:t>
            </a:r>
            <a:r>
              <a:rPr lang="en-US" dirty="0"/>
              <a:t>dados</a:t>
            </a:r>
            <a:endParaRPr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008532-AF41-1E19-2577-41B0B04E4F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DCF952F-7FBE-187F-84FC-33A069306619}"/>
              </a:ext>
            </a:extLst>
          </p:cNvPr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CDFC4F2-3E14-0B67-31FD-F3CA0E996C00}"/>
              </a:ext>
            </a:extLst>
          </p:cNvPr>
          <p:cNvSpPr txBox="1"/>
          <p:nvPr/>
        </p:nvSpPr>
        <p:spPr>
          <a:xfrm>
            <a:off x="457200" y="137160"/>
            <a:ext cx="3614451" cy="49244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rPr lang="pt-BR" dirty="0"/>
              <a:t>Distribuição das features</a:t>
            </a:r>
            <a:endParaRPr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F82244EB-9C2E-A230-B097-77209F08838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14690" y="710922"/>
            <a:ext cx="9374347" cy="61339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088226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2DF069-1F27-AFB8-23A2-94CA1365E4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5683F52F-BB2D-8957-EE72-BB64969359B9}"/>
              </a:ext>
            </a:extLst>
          </p:cNvPr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817CB67-30D7-A711-4C56-391212AACDFD}"/>
              </a:ext>
            </a:extLst>
          </p:cNvPr>
          <p:cNvSpPr txBox="1"/>
          <p:nvPr/>
        </p:nvSpPr>
        <p:spPr>
          <a:xfrm>
            <a:off x="457200" y="137160"/>
            <a:ext cx="5451621" cy="49244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rPr lang="pt-BR" dirty="0"/>
              <a:t>Distribuição das features - Histograma</a:t>
            </a:r>
            <a:endParaRPr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08E491B-5EDD-2A49-E7BE-38FFF0F23E0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90909" y="629603"/>
            <a:ext cx="9655767" cy="62283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758061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F4BC90-F34D-6BD8-D578-18BD54622A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6E340272-9AEB-4FC3-454C-CA54BC1BFD64}"/>
              </a:ext>
            </a:extLst>
          </p:cNvPr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8015764-C6E5-F6BC-A063-AE2867E50DC2}"/>
              </a:ext>
            </a:extLst>
          </p:cNvPr>
          <p:cNvSpPr txBox="1"/>
          <p:nvPr/>
        </p:nvSpPr>
        <p:spPr>
          <a:xfrm>
            <a:off x="457200" y="137160"/>
            <a:ext cx="5155642" cy="49244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rPr lang="pt-BR" sz="2600" b="1" dirty="0"/>
              <a:t>Matriz de Correlação entre Features</a:t>
            </a:r>
            <a:endParaRPr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5FB33BE-E865-11D9-5675-383DD77640D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909206"/>
            <a:ext cx="4248743" cy="3667637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499C107C-A368-A992-F857-040FB1057E3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16366" y="628050"/>
            <a:ext cx="7375634" cy="62299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385749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2BBB92-2328-C2F6-1434-4270119EF6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B8946949-BF6F-6368-DD6B-1B3C39D28D04}"/>
              </a:ext>
            </a:extLst>
          </p:cNvPr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4D02D45-D54D-B021-2ECB-2EE44F197C77}"/>
              </a:ext>
            </a:extLst>
          </p:cNvPr>
          <p:cNvSpPr txBox="1"/>
          <p:nvPr/>
        </p:nvSpPr>
        <p:spPr>
          <a:xfrm>
            <a:off x="457200" y="137160"/>
            <a:ext cx="5871416" cy="49244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rPr lang="pt-BR" sz="2600" b="1" dirty="0"/>
              <a:t>Análise de Componentes Principais (PCA)</a:t>
            </a:r>
            <a:endParaRPr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D40766B-6C95-4A4A-2321-B2517CF3259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278503"/>
            <a:ext cx="12192000" cy="43009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4670490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5929187" cy="49244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rPr lang="en-US" dirty="0" err="1"/>
              <a:t>Conclusoes</a:t>
            </a:r>
            <a:r>
              <a:rPr dirty="0"/>
              <a:t> da </a:t>
            </a:r>
            <a:r>
              <a:rPr dirty="0" err="1"/>
              <a:t>Análise</a:t>
            </a:r>
            <a:r>
              <a:rPr dirty="0"/>
              <a:t> </a:t>
            </a:r>
            <a:r>
              <a:rPr dirty="0" err="1"/>
              <a:t>Exploratória</a:t>
            </a:r>
            <a:r>
              <a:rPr dirty="0"/>
              <a:t> (EDA)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515600" cy="340606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rPr dirty="0"/>
              <a:t>• </a:t>
            </a:r>
            <a:r>
              <a:rPr dirty="0" err="1"/>
              <a:t>Compreender</a:t>
            </a:r>
            <a:r>
              <a:rPr dirty="0"/>
              <a:t> </a:t>
            </a:r>
            <a:r>
              <a:rPr dirty="0" err="1"/>
              <a:t>distribuições</a:t>
            </a:r>
            <a:r>
              <a:rPr dirty="0"/>
              <a:t> de features e </a:t>
            </a:r>
            <a:r>
              <a:rPr dirty="0" err="1"/>
              <a:t>identificar</a:t>
            </a:r>
            <a:r>
              <a:rPr dirty="0"/>
              <a:t> </a:t>
            </a:r>
            <a:r>
              <a:rPr dirty="0" err="1"/>
              <a:t>assimetrias</a:t>
            </a:r>
            <a:endParaRPr dirty="0"/>
          </a:p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rPr dirty="0"/>
              <a:t>    → Proline e </a:t>
            </a:r>
            <a:r>
              <a:rPr dirty="0" err="1"/>
              <a:t>color_intensity</a:t>
            </a:r>
            <a:r>
              <a:rPr dirty="0"/>
              <a:t>: </a:t>
            </a:r>
            <a:r>
              <a:rPr dirty="0" err="1"/>
              <a:t>distribuições</a:t>
            </a:r>
            <a:r>
              <a:rPr dirty="0"/>
              <a:t> </a:t>
            </a:r>
            <a:r>
              <a:rPr dirty="0" err="1"/>
              <a:t>assimétricas</a:t>
            </a:r>
            <a:r>
              <a:rPr dirty="0"/>
              <a:t> à </a:t>
            </a:r>
            <a:r>
              <a:rPr dirty="0" err="1"/>
              <a:t>direita</a:t>
            </a:r>
            <a:endParaRPr dirty="0"/>
          </a:p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endParaRPr dirty="0"/>
          </a:p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rPr dirty="0"/>
              <a:t>• </a:t>
            </a:r>
            <a:r>
              <a:rPr dirty="0" err="1"/>
              <a:t>Detetar</a:t>
            </a:r>
            <a:r>
              <a:rPr dirty="0"/>
              <a:t> </a:t>
            </a:r>
            <a:r>
              <a:rPr dirty="0" err="1"/>
              <a:t>correlações</a:t>
            </a:r>
            <a:r>
              <a:rPr dirty="0"/>
              <a:t> entre features</a:t>
            </a:r>
          </a:p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rPr dirty="0"/>
              <a:t>    → </a:t>
            </a:r>
            <a:r>
              <a:rPr dirty="0" err="1"/>
              <a:t>Flavanoids</a:t>
            </a:r>
            <a:r>
              <a:rPr dirty="0"/>
              <a:t> vs </a:t>
            </a:r>
            <a:r>
              <a:rPr dirty="0" err="1"/>
              <a:t>total_phenols</a:t>
            </a:r>
            <a:r>
              <a:rPr dirty="0"/>
              <a:t>: </a:t>
            </a:r>
            <a:r>
              <a:rPr dirty="0" err="1"/>
              <a:t>correlação</a:t>
            </a:r>
            <a:r>
              <a:rPr dirty="0"/>
              <a:t> ~0.86</a:t>
            </a:r>
            <a:r>
              <a:rPr lang="en-US" dirty="0"/>
              <a:t> (</a:t>
            </a:r>
            <a:r>
              <a:rPr lang="pt-BR" dirty="0"/>
              <a:t>flavanoids são subconjunto dos phenols?)</a:t>
            </a:r>
            <a:endParaRPr dirty="0"/>
          </a:p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endParaRPr dirty="0"/>
          </a:p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rPr dirty="0"/>
              <a:t>• </a:t>
            </a:r>
            <a:r>
              <a:rPr dirty="0" err="1"/>
              <a:t>Visualizar</a:t>
            </a:r>
            <a:r>
              <a:rPr dirty="0"/>
              <a:t> </a:t>
            </a:r>
            <a:r>
              <a:rPr dirty="0" err="1"/>
              <a:t>separabilidade</a:t>
            </a:r>
            <a:r>
              <a:rPr dirty="0"/>
              <a:t> entre classes</a:t>
            </a:r>
          </a:p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rPr dirty="0"/>
              <a:t>    → Cultivar 1 </a:t>
            </a:r>
            <a:r>
              <a:rPr dirty="0" err="1"/>
              <a:t>bem</a:t>
            </a:r>
            <a:r>
              <a:rPr dirty="0"/>
              <a:t> </a:t>
            </a:r>
            <a:r>
              <a:rPr dirty="0" err="1"/>
              <a:t>separada</a:t>
            </a:r>
            <a:r>
              <a:rPr dirty="0"/>
              <a:t> das </a:t>
            </a:r>
            <a:r>
              <a:rPr dirty="0" err="1"/>
              <a:t>outras</a:t>
            </a:r>
            <a:r>
              <a:rPr dirty="0"/>
              <a:t> </a:t>
            </a:r>
            <a:r>
              <a:rPr dirty="0" err="1"/>
              <a:t>em</a:t>
            </a:r>
            <a:r>
              <a:rPr dirty="0"/>
              <a:t> </a:t>
            </a:r>
            <a:r>
              <a:rPr dirty="0" err="1"/>
              <a:t>múltiplas</a:t>
            </a:r>
            <a:r>
              <a:rPr dirty="0"/>
              <a:t> </a:t>
            </a:r>
            <a:r>
              <a:rPr dirty="0" err="1"/>
              <a:t>dimensões</a:t>
            </a:r>
            <a:endParaRPr dirty="0"/>
          </a:p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endParaRPr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C5F8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2560320"/>
            <a:ext cx="100584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3. Parâmetros de Treino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rPr dirty="0" err="1"/>
              <a:t>Configuração</a:t>
            </a:r>
            <a:r>
              <a:rPr dirty="0"/>
              <a:t> do </a:t>
            </a:r>
            <a:r>
              <a:rPr dirty="0" err="1"/>
              <a:t>Treino</a:t>
            </a:r>
            <a:endParaRPr dirty="0"/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908305"/>
              </p:ext>
            </p:extLst>
          </p:nvPr>
        </p:nvGraphicFramePr>
        <p:xfrm>
          <a:off x="457200" y="1371600"/>
          <a:ext cx="1124712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90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490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7490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Parâmetro</a:t>
                      </a:r>
                    </a:p>
                  </a:txBody>
                  <a:tcPr>
                    <a:solidFill>
                      <a:srgbClr val="2C5F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Valor</a:t>
                      </a:r>
                    </a:p>
                  </a:txBody>
                  <a:tcPr>
                    <a:solidFill>
                      <a:srgbClr val="2C5F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Justificação</a:t>
                      </a:r>
                    </a:p>
                  </a:txBody>
                  <a:tcPr>
                    <a:solidFill>
                      <a:srgbClr val="2C5F8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Proporção de teste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20% (0.2)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178 amostras → ~36 teste (~12/classe). Bom equilíbrio.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rPr dirty="0" err="1"/>
                        <a:t>Estratificação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rPr dirty="0"/>
                        <a:t>Sim (stratify=y)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rPr dirty="0" err="1"/>
                        <a:t>Preserva</a:t>
                      </a:r>
                      <a:r>
                        <a:rPr dirty="0"/>
                        <a:t> </a:t>
                      </a:r>
                      <a:r>
                        <a:rPr dirty="0" err="1"/>
                        <a:t>distribuição</a:t>
                      </a:r>
                      <a:r>
                        <a:rPr dirty="0"/>
                        <a:t> 59/71/48 </a:t>
                      </a:r>
                      <a:r>
                        <a:rPr dirty="0" err="1"/>
                        <a:t>em</a:t>
                      </a:r>
                      <a:r>
                        <a:rPr dirty="0"/>
                        <a:t> train e test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Random seed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42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Reprodutibilidade entre experiências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rPr dirty="0"/>
                        <a:t>Scaling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rPr dirty="0" err="1"/>
                        <a:t>fit_transform</a:t>
                      </a:r>
                      <a:r>
                        <a:rPr dirty="0"/>
                        <a:t> </a:t>
                      </a:r>
                      <a:r>
                        <a:rPr dirty="0" err="1"/>
                        <a:t>no</a:t>
                      </a:r>
                      <a:r>
                        <a:rPr lang="en-US" dirty="0" err="1"/>
                        <a:t>s</a:t>
                      </a:r>
                      <a:r>
                        <a:rPr lang="en-US" dirty="0"/>
                        <a:t> dados de </a:t>
                      </a:r>
                      <a:r>
                        <a:rPr lang="en-US" dirty="0" err="1"/>
                        <a:t>treino</a:t>
                      </a:r>
                      <a:endParaRPr dirty="0"/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rPr dirty="0"/>
                        <a:t>Fit </a:t>
                      </a:r>
                      <a:r>
                        <a:rPr dirty="0" err="1"/>
                        <a:t>só</a:t>
                      </a:r>
                      <a:r>
                        <a:rPr dirty="0"/>
                        <a:t> no </a:t>
                      </a:r>
                      <a:r>
                        <a:rPr dirty="0" err="1"/>
                        <a:t>treino</a:t>
                      </a:r>
                      <a:r>
                        <a:rPr dirty="0"/>
                        <a:t> para </a:t>
                      </a:r>
                      <a:r>
                        <a:rPr dirty="0" err="1"/>
                        <a:t>evitar</a:t>
                      </a:r>
                      <a:r>
                        <a:rPr dirty="0"/>
                        <a:t> data leakage</a:t>
                      </a:r>
                      <a:r>
                        <a:rPr lang="en-US" dirty="0"/>
                        <a:t> (</a:t>
                      </a:r>
                      <a:r>
                        <a:rPr lang="en-US" dirty="0" err="1"/>
                        <a:t>evitar</a:t>
                      </a:r>
                      <a:r>
                        <a:rPr lang="en-US" dirty="0"/>
                        <a:t> </a:t>
                      </a:r>
                      <a:r>
                        <a:rPr lang="en-US" dirty="0" err="1"/>
                        <a:t>incluir</a:t>
                      </a:r>
                      <a:r>
                        <a:rPr lang="en-US" dirty="0"/>
                        <a:t> </a:t>
                      </a:r>
                      <a:r>
                        <a:rPr lang="en-US" dirty="0" err="1"/>
                        <a:t>informacoes</a:t>
                      </a:r>
                      <a:r>
                        <a:rPr lang="en-US" dirty="0"/>
                        <a:t> das </a:t>
                      </a:r>
                      <a:r>
                        <a:rPr lang="en-US" dirty="0" err="1"/>
                        <a:t>amostras</a:t>
                      </a:r>
                      <a:r>
                        <a:rPr lang="en-US" dirty="0"/>
                        <a:t> de teste)</a:t>
                      </a:r>
                      <a:endParaRPr dirty="0"/>
                    </a:p>
                  </a:txBody>
                  <a:tcPr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rPr dirty="0"/>
                        <a:t>Cross-validation</a:t>
                      </a:r>
                      <a:r>
                        <a:rPr lang="en-US" dirty="0"/>
                        <a:t> (</a:t>
                      </a:r>
                      <a:r>
                        <a:rPr lang="en-US" dirty="0" err="1"/>
                        <a:t>utilizado</a:t>
                      </a:r>
                      <a:r>
                        <a:rPr lang="en-US" dirty="0"/>
                        <a:t> no tuning do </a:t>
                      </a:r>
                      <a:r>
                        <a:rPr lang="en-US" dirty="0" err="1"/>
                        <a:t>hyperparametros</a:t>
                      </a:r>
                      <a:r>
                        <a:rPr lang="en-US" dirty="0"/>
                        <a:t>)</a:t>
                      </a:r>
                      <a:endParaRPr dirty="0"/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rPr dirty="0"/>
                        <a:t>5-fold </a:t>
                      </a:r>
                      <a:r>
                        <a:rPr dirty="0" err="1"/>
                        <a:t>stratificado</a:t>
                      </a:r>
                      <a:endParaRPr dirty="0"/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rPr dirty="0"/>
                        <a:t>Standard para datasets </a:t>
                      </a:r>
                      <a:r>
                        <a:rPr dirty="0" err="1"/>
                        <a:t>pequenos</a:t>
                      </a:r>
                      <a:r>
                        <a:rPr dirty="0"/>
                        <a:t>; </a:t>
                      </a:r>
                      <a:r>
                        <a:rPr lang="en-US" dirty="0"/>
                        <a:t>(</a:t>
                      </a:r>
                      <a:r>
                        <a:rPr lang="pt-BR" dirty="0"/>
                        <a:t>142 amsotras para treino &amp; ~36 amostras para validação por fold)</a:t>
                      </a:r>
                      <a:endParaRPr dirty="0"/>
                    </a:p>
                  </a:txBody>
                  <a:tcPr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43987728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C5F8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2560320"/>
            <a:ext cx="100584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4. Seleção de Modelos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Modelos Escolhidos para Comparação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13190463"/>
              </p:ext>
            </p:extLst>
          </p:nvPr>
        </p:nvGraphicFramePr>
        <p:xfrm>
          <a:off x="457200" y="1371600"/>
          <a:ext cx="11247120" cy="1950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90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490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7490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rPr dirty="0"/>
                        <a:t>Modelo</a:t>
                      </a:r>
                    </a:p>
                  </a:txBody>
                  <a:tcPr>
                    <a:solidFill>
                      <a:srgbClr val="2C5F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Tipo</a:t>
                      </a:r>
                    </a:p>
                  </a:txBody>
                  <a:tcPr>
                    <a:solidFill>
                      <a:srgbClr val="2C5F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Porquê</a:t>
                      </a:r>
                    </a:p>
                  </a:txBody>
                  <a:tcPr>
                    <a:solidFill>
                      <a:srgbClr val="2C5F8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rPr dirty="0"/>
                        <a:t>Logistic Regression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rPr lang="en-US" dirty="0"/>
                        <a:t>Modelo </a:t>
                      </a:r>
                      <a:r>
                        <a:rPr dirty="0"/>
                        <a:t>Linear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rPr dirty="0"/>
                        <a:t>Baseline; </a:t>
                      </a:r>
                      <a:r>
                        <a:rPr dirty="0" err="1"/>
                        <a:t>rápido</a:t>
                      </a:r>
                      <a:r>
                        <a:rPr dirty="0"/>
                        <a:t>, </a:t>
                      </a:r>
                      <a:r>
                        <a:rPr dirty="0" err="1"/>
                        <a:t>interpretável</a:t>
                      </a:r>
                      <a:r>
                        <a:rPr dirty="0"/>
                        <a:t>, </a:t>
                      </a:r>
                      <a:r>
                        <a:rPr dirty="0" err="1"/>
                        <a:t>referência</a:t>
                      </a:r>
                      <a:r>
                        <a:rPr dirty="0"/>
                        <a:t> linear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Random Forest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rPr lang="en-US" dirty="0"/>
                        <a:t>Modelo </a:t>
                      </a:r>
                      <a:r>
                        <a:rPr lang="en-US" dirty="0" err="1"/>
                        <a:t>baseado</a:t>
                      </a:r>
                      <a:r>
                        <a:rPr lang="en-US" dirty="0"/>
                        <a:t> </a:t>
                      </a:r>
                      <a:r>
                        <a:rPr lang="en-US" dirty="0" err="1"/>
                        <a:t>em</a:t>
                      </a:r>
                      <a:r>
                        <a:rPr lang="en-US" dirty="0"/>
                        <a:t> </a:t>
                      </a:r>
                      <a:r>
                        <a:rPr lang="en-US" dirty="0" err="1"/>
                        <a:t>árvores</a:t>
                      </a:r>
                      <a:r>
                        <a:rPr lang="en-US" dirty="0"/>
                        <a:t> de </a:t>
                      </a:r>
                      <a:r>
                        <a:rPr lang="en-US" dirty="0" err="1"/>
                        <a:t>decisao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rPr dirty="0"/>
                        <a:t>Robusto a outliers, </a:t>
                      </a:r>
                      <a:r>
                        <a:rPr dirty="0" err="1"/>
                        <a:t>sem</a:t>
                      </a:r>
                      <a:r>
                        <a:rPr dirty="0"/>
                        <a:t> </a:t>
                      </a:r>
                      <a:r>
                        <a:rPr dirty="0" err="1"/>
                        <a:t>necessidade</a:t>
                      </a:r>
                      <a:r>
                        <a:rPr dirty="0"/>
                        <a:t> de scaling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XGBoost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rPr lang="pt-BR" dirty="0"/>
                        <a:t>Modelo baseado em árvores de decisao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rPr dirty="0"/>
                        <a:t>Top performer </a:t>
                      </a:r>
                      <a:r>
                        <a:rPr dirty="0" err="1"/>
                        <a:t>em</a:t>
                      </a:r>
                      <a:r>
                        <a:rPr dirty="0"/>
                        <a:t> dados </a:t>
                      </a:r>
                      <a:r>
                        <a:rPr dirty="0" err="1"/>
                        <a:t>tabulares</a:t>
                      </a:r>
                      <a:r>
                        <a:rPr dirty="0"/>
                        <a:t>; </a:t>
                      </a:r>
                      <a:r>
                        <a:rPr dirty="0" err="1"/>
                        <a:t>regularização</a:t>
                      </a:r>
                      <a:r>
                        <a:rPr dirty="0"/>
                        <a:t> </a:t>
                      </a:r>
                      <a:r>
                        <a:rPr dirty="0" err="1"/>
                        <a:t>integrada</a:t>
                      </a:r>
                      <a:endParaRPr dirty="0"/>
                    </a:p>
                  </a:txBody>
                  <a:tcPr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SVM (kernel RBF)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rPr dirty="0"/>
                        <a:t>Kernel-based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rPr dirty="0"/>
                        <a:t>Forte </a:t>
                      </a:r>
                      <a:r>
                        <a:rPr dirty="0" err="1"/>
                        <a:t>em</a:t>
                      </a:r>
                      <a:r>
                        <a:rPr dirty="0"/>
                        <a:t> datasets </a:t>
                      </a:r>
                      <a:r>
                        <a:rPr dirty="0" err="1"/>
                        <a:t>pequenos</a:t>
                      </a:r>
                      <a:r>
                        <a:rPr dirty="0"/>
                        <a:t> com boa </a:t>
                      </a:r>
                      <a:r>
                        <a:rPr dirty="0" err="1"/>
                        <a:t>separabilidade</a:t>
                      </a:r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Justificação da Seleção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515600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rPr dirty="0"/>
              <a:t>• </a:t>
            </a:r>
            <a:r>
              <a:rPr dirty="0" err="1"/>
              <a:t>Problema</a:t>
            </a:r>
            <a:r>
              <a:rPr dirty="0"/>
              <a:t> de </a:t>
            </a:r>
            <a:r>
              <a:rPr dirty="0" err="1"/>
              <a:t>classificação</a:t>
            </a:r>
            <a:r>
              <a:rPr dirty="0"/>
              <a:t> </a:t>
            </a:r>
            <a:r>
              <a:rPr dirty="0" err="1"/>
              <a:t>multiclasse</a:t>
            </a:r>
            <a:r>
              <a:rPr dirty="0"/>
              <a:t> (3 </a:t>
            </a:r>
            <a:r>
              <a:rPr dirty="0" err="1"/>
              <a:t>cultivares</a:t>
            </a:r>
            <a:r>
              <a:rPr dirty="0"/>
              <a:t>)</a:t>
            </a:r>
          </a:p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rPr dirty="0"/>
              <a:t>    → </a:t>
            </a:r>
            <a:r>
              <a:rPr dirty="0" err="1"/>
              <a:t>Modelos</a:t>
            </a:r>
            <a:r>
              <a:rPr dirty="0"/>
              <a:t> de </a:t>
            </a:r>
            <a:r>
              <a:rPr dirty="0" err="1"/>
              <a:t>regressão</a:t>
            </a:r>
            <a:r>
              <a:rPr dirty="0"/>
              <a:t> </a:t>
            </a:r>
            <a:r>
              <a:rPr dirty="0" err="1"/>
              <a:t>inadequados</a:t>
            </a:r>
            <a:r>
              <a:rPr dirty="0"/>
              <a:t> (</a:t>
            </a:r>
            <a:r>
              <a:rPr dirty="0" err="1"/>
              <a:t>tratariam</a:t>
            </a:r>
            <a:r>
              <a:rPr dirty="0"/>
              <a:t> classes </a:t>
            </a:r>
            <a:r>
              <a:rPr dirty="0" err="1"/>
              <a:t>como</a:t>
            </a:r>
            <a:r>
              <a:rPr dirty="0"/>
              <a:t> </a:t>
            </a:r>
            <a:r>
              <a:rPr dirty="0" err="1"/>
              <a:t>valores</a:t>
            </a:r>
            <a:r>
              <a:rPr dirty="0"/>
              <a:t> </a:t>
            </a:r>
            <a:r>
              <a:rPr dirty="0" err="1"/>
              <a:t>numéricos</a:t>
            </a:r>
            <a:r>
              <a:rPr dirty="0"/>
              <a:t>)</a:t>
            </a:r>
          </a:p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endParaRPr dirty="0"/>
          </a:p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rPr dirty="0"/>
              <a:t>• Dataset </a:t>
            </a:r>
            <a:r>
              <a:rPr dirty="0" err="1"/>
              <a:t>pequeno</a:t>
            </a:r>
            <a:r>
              <a:rPr dirty="0"/>
              <a:t> (178 </a:t>
            </a:r>
            <a:r>
              <a:rPr dirty="0" err="1"/>
              <a:t>amostras</a:t>
            </a:r>
            <a:r>
              <a:rPr dirty="0"/>
              <a:t>) → </a:t>
            </a:r>
            <a:r>
              <a:rPr dirty="0" err="1"/>
              <a:t>todos</a:t>
            </a:r>
            <a:r>
              <a:rPr dirty="0"/>
              <a:t> </a:t>
            </a:r>
            <a:r>
              <a:rPr dirty="0" err="1"/>
              <a:t>treinam</a:t>
            </a:r>
            <a:r>
              <a:rPr dirty="0"/>
              <a:t> </a:t>
            </a:r>
            <a:r>
              <a:rPr dirty="0" err="1"/>
              <a:t>rapidamente</a:t>
            </a:r>
            <a:endParaRPr dirty="0"/>
          </a:p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endParaRPr dirty="0"/>
          </a:p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rPr dirty="0"/>
              <a:t>• Random Forest e </a:t>
            </a:r>
            <a:r>
              <a:rPr dirty="0" err="1"/>
              <a:t>XGBoost</a:t>
            </a:r>
            <a:r>
              <a:rPr dirty="0"/>
              <a:t>: feature importance </a:t>
            </a:r>
            <a:r>
              <a:rPr dirty="0" err="1"/>
              <a:t>nativa</a:t>
            </a:r>
            <a:endParaRPr lang="en-US" dirty="0"/>
          </a:p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endParaRPr dirty="0"/>
          </a:p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rPr dirty="0"/>
              <a:t>• Scaled data: Logistic Regression + SVM</a:t>
            </a:r>
            <a:endParaRPr lang="en-US" dirty="0"/>
          </a:p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endParaRPr dirty="0"/>
          </a:p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rPr dirty="0"/>
              <a:t>• Unscaled data: Random Forest + </a:t>
            </a:r>
            <a:r>
              <a:rPr dirty="0" err="1"/>
              <a:t>XGBoost</a:t>
            </a:r>
            <a:r>
              <a:rPr dirty="0"/>
              <a:t> (</a:t>
            </a:r>
            <a:r>
              <a:rPr dirty="0" err="1"/>
              <a:t>invariantes</a:t>
            </a:r>
            <a:r>
              <a:rPr dirty="0"/>
              <a:t> à </a:t>
            </a:r>
            <a:r>
              <a:rPr dirty="0" err="1"/>
              <a:t>escala</a:t>
            </a:r>
            <a:r>
              <a:rPr dirty="0"/>
              <a:t>)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C5F8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2560320"/>
            <a:ext cx="100584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5. Critérios de Seleção</a:t>
            </a:r>
            <a:br/>
            <a:r>
              <a:t>do Melhor Modelo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Métricas de Avaliação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43000"/>
            <a:ext cx="10515600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b="1" dirty="0"/>
              <a:t>Precision</a:t>
            </a:r>
            <a:r>
              <a:rPr lang="pt-BR" dirty="0"/>
              <a:t> — "De todas as vezes que o modelo disse cultivar X, quantas estavam certas?“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pt-BR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b="1" dirty="0"/>
              <a:t>Accuracy</a:t>
            </a:r>
            <a:r>
              <a:rPr lang="pt-BR" dirty="0"/>
              <a:t> — Proporção de previsões corretas sobre o total (pode ser enganadora com classes desequilibradas).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pt-BR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b="1" dirty="0"/>
              <a:t>Recall</a:t>
            </a:r>
            <a:r>
              <a:rPr lang="pt-BR" dirty="0"/>
              <a:t> — "De todas as amostras reais da cultivar X, quantas o modelo encontrou?" 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pt-BR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b="1" dirty="0"/>
              <a:t>F1-score</a:t>
            </a:r>
            <a:r>
              <a:rPr lang="pt-BR" dirty="0"/>
              <a:t> — é a média harmónica entre precision e recall </a:t>
            </a:r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94214E3-E000-53B9-A19A-97AB1EBB0BE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17242" y="5351192"/>
            <a:ext cx="8157209" cy="1369647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91EEA152-2CC3-24DC-8318-029B41090A24}"/>
              </a:ext>
            </a:extLst>
          </p:cNvPr>
          <p:cNvSpPr txBox="1"/>
          <p:nvPr/>
        </p:nvSpPr>
        <p:spPr>
          <a:xfrm>
            <a:off x="669091" y="4914405"/>
            <a:ext cx="105156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Com </a:t>
            </a:r>
            <a:r>
              <a:rPr lang="en-US" dirty="0" err="1"/>
              <a:t>valores</a:t>
            </a:r>
            <a:r>
              <a:rPr lang="en-US" dirty="0"/>
              <a:t> default para </a:t>
            </a:r>
            <a:r>
              <a:rPr lang="en-US" dirty="0" err="1"/>
              <a:t>os</a:t>
            </a:r>
            <a:r>
              <a:rPr lang="en-US" dirty="0"/>
              <a:t> </a:t>
            </a:r>
            <a:r>
              <a:rPr lang="en-US" dirty="0" err="1"/>
              <a:t>hiperparamtros</a:t>
            </a:r>
            <a:r>
              <a:rPr lang="en-US" dirty="0"/>
              <a:t> dos </a:t>
            </a:r>
            <a:r>
              <a:rPr lang="en-US" dirty="0" err="1"/>
              <a:t>diferentes</a:t>
            </a:r>
            <a:r>
              <a:rPr lang="en-US" dirty="0"/>
              <a:t> </a:t>
            </a:r>
            <a:r>
              <a:rPr lang="en-US" dirty="0" err="1"/>
              <a:t>modelos</a:t>
            </a:r>
            <a:r>
              <a:rPr lang="en-US" dirty="0"/>
              <a:t> </a:t>
            </a:r>
            <a:r>
              <a:rPr lang="en-US" dirty="0" err="1"/>
              <a:t>foram</a:t>
            </a:r>
            <a:r>
              <a:rPr lang="en-US" dirty="0"/>
              <a:t> </a:t>
            </a:r>
            <a:r>
              <a:rPr lang="en-US" dirty="0" err="1"/>
              <a:t>obitidos</a:t>
            </a:r>
            <a:r>
              <a:rPr lang="en-US" dirty="0"/>
              <a:t> </a:t>
            </a:r>
            <a:r>
              <a:rPr lang="en-US" dirty="0" err="1"/>
              <a:t>os</a:t>
            </a:r>
            <a:r>
              <a:rPr lang="en-US" dirty="0"/>
              <a:t> </a:t>
            </a:r>
            <a:r>
              <a:rPr lang="en-US" dirty="0" err="1"/>
              <a:t>seguintes</a:t>
            </a:r>
            <a:r>
              <a:rPr lang="en-US" dirty="0"/>
              <a:t> </a:t>
            </a:r>
            <a:r>
              <a:rPr lang="en-US" dirty="0" err="1"/>
              <a:t>resultados</a:t>
            </a:r>
            <a:r>
              <a:rPr lang="en-US" dirty="0"/>
              <a:t>: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BAF1AFFB-A5EE-FE8E-70A9-8C1924E378F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55845" y="3584729"/>
            <a:ext cx="6175510" cy="119627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C5F8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46679" y="2560320"/>
            <a:ext cx="2793842" cy="120032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rPr dirty="0"/>
              <a:t>6. </a:t>
            </a:r>
            <a:r>
              <a:rPr dirty="0" err="1"/>
              <a:t>Otimização</a:t>
            </a:r>
            <a:br>
              <a:rPr dirty="0"/>
            </a:br>
            <a:r>
              <a:rPr dirty="0"/>
              <a:t>(</a:t>
            </a:r>
            <a:r>
              <a:rPr dirty="0" err="1"/>
              <a:t>Optuna</a:t>
            </a:r>
            <a:r>
              <a:rPr dirty="0"/>
              <a:t>)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3600409" cy="49244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rPr dirty="0" err="1"/>
              <a:t>Estratégia</a:t>
            </a:r>
            <a:r>
              <a:rPr dirty="0"/>
              <a:t> de </a:t>
            </a:r>
            <a:r>
              <a:rPr dirty="0" err="1"/>
              <a:t>Otimização</a:t>
            </a:r>
            <a:endParaRPr dirty="0"/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515600" cy="18876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rPr dirty="0"/>
              <a:t>1. Baseline: </a:t>
            </a:r>
            <a:r>
              <a:rPr dirty="0" err="1"/>
              <a:t>treinar</a:t>
            </a:r>
            <a:r>
              <a:rPr dirty="0"/>
              <a:t> </a:t>
            </a:r>
            <a:r>
              <a:rPr dirty="0" err="1"/>
              <a:t>todos</a:t>
            </a:r>
            <a:r>
              <a:rPr dirty="0"/>
              <a:t> </a:t>
            </a:r>
            <a:r>
              <a:rPr lang="en-US" dirty="0" err="1"/>
              <a:t>os</a:t>
            </a:r>
            <a:r>
              <a:rPr lang="en-US" dirty="0"/>
              <a:t> </a:t>
            </a:r>
            <a:r>
              <a:rPr lang="en-US" dirty="0" err="1"/>
              <a:t>modelos</a:t>
            </a:r>
            <a:r>
              <a:rPr lang="en-US" dirty="0"/>
              <a:t> </a:t>
            </a:r>
            <a:r>
              <a:rPr dirty="0"/>
              <a:t>com </a:t>
            </a:r>
            <a:r>
              <a:rPr dirty="0" err="1"/>
              <a:t>hiperparâmetros</a:t>
            </a:r>
            <a:r>
              <a:rPr dirty="0"/>
              <a:t> default</a:t>
            </a:r>
          </a:p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endParaRPr lang="en-US" dirty="0"/>
          </a:p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rPr lang="en-US" dirty="0"/>
              <a:t>2</a:t>
            </a:r>
            <a:r>
              <a:rPr dirty="0"/>
              <a:t>. </a:t>
            </a:r>
            <a:r>
              <a:rPr dirty="0" err="1"/>
              <a:t>Optuna</a:t>
            </a:r>
            <a:r>
              <a:rPr dirty="0"/>
              <a:t>: </a:t>
            </a:r>
            <a:r>
              <a:rPr lang="pt-BR" b="1" dirty="0"/>
              <a:t>direction='maximize'</a:t>
            </a:r>
            <a:r>
              <a:rPr lang="pt-BR" dirty="0"/>
              <a:t> — Queremos maximizar o F1 Macro (Média simples dos F1 por classe)</a:t>
            </a:r>
          </a:p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rPr lang="pt-BR" dirty="0"/>
              <a:t>	</a:t>
            </a:r>
            <a:r>
              <a:rPr lang="en-US" dirty="0"/>
              <a:t>Cross-Validation: 5-fold </a:t>
            </a:r>
            <a:r>
              <a:rPr lang="en-US" dirty="0" err="1"/>
              <a:t>estratificado</a:t>
            </a:r>
            <a:endParaRPr lang="en-US" dirty="0"/>
          </a:p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endParaRPr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5796459" cy="49244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rPr dirty="0" err="1"/>
              <a:t>Optuna</a:t>
            </a:r>
            <a:r>
              <a:rPr dirty="0"/>
              <a:t> — </a:t>
            </a:r>
            <a:r>
              <a:rPr lang="en-US" dirty="0" err="1"/>
              <a:t>Exemplo</a:t>
            </a:r>
            <a:r>
              <a:rPr lang="en-US" dirty="0"/>
              <a:t> </a:t>
            </a:r>
            <a:r>
              <a:rPr lang="en-US" dirty="0" err="1"/>
              <a:t>parametros</a:t>
            </a:r>
            <a:r>
              <a:rPr lang="en-US" dirty="0"/>
              <a:t> </a:t>
            </a:r>
            <a:r>
              <a:rPr dirty="0" err="1"/>
              <a:t>XGBoost</a:t>
            </a:r>
            <a:endParaRPr dirty="0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371600"/>
          <a:ext cx="1124712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17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117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117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8117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rPr dirty="0" err="1"/>
                        <a:t>Parâmetro</a:t>
                      </a:r>
                      <a:endParaRPr dirty="0"/>
                    </a:p>
                  </a:txBody>
                  <a:tcPr>
                    <a:solidFill>
                      <a:srgbClr val="2C5F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Tipo</a:t>
                      </a:r>
                    </a:p>
                  </a:txBody>
                  <a:tcPr>
                    <a:solidFill>
                      <a:srgbClr val="2C5F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Range</a:t>
                      </a:r>
                    </a:p>
                  </a:txBody>
                  <a:tcPr>
                    <a:solidFill>
                      <a:srgbClr val="2C5F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rPr dirty="0"/>
                        <a:t>Escala</a:t>
                      </a:r>
                    </a:p>
                  </a:txBody>
                  <a:tcPr>
                    <a:solidFill>
                      <a:srgbClr val="2C5F8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n_estimators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int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[50, 300]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rPr dirty="0"/>
                        <a:t>Linear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max_depth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int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[3, 10]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rPr dirty="0"/>
                        <a:t>Linear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learning_rate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float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[0.01, 0.3]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rPr dirty="0"/>
                        <a:t>Log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subsample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float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[0.6, 1.0]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rPr dirty="0"/>
                        <a:t>Linear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colsample_bytree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float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[0.6, 1.0]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rPr dirty="0"/>
                        <a:t>Linear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reg_alpha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float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[0.001, 10.0]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rPr dirty="0"/>
                        <a:t>Log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reg_lambda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float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[0.001, 10.0]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rPr dirty="0"/>
                        <a:t>Log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3195298" cy="49244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rPr dirty="0" err="1"/>
              <a:t>Resultados</a:t>
            </a:r>
            <a:r>
              <a:rPr dirty="0"/>
              <a:t> —</a:t>
            </a:r>
            <a:r>
              <a:rPr lang="en-US" dirty="0"/>
              <a:t> </a:t>
            </a:r>
            <a:r>
              <a:rPr dirty="0" err="1"/>
              <a:t>Optuna</a:t>
            </a:r>
            <a:endParaRPr dirty="0"/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515600" cy="18876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endParaRPr dirty="0"/>
          </a:p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rPr dirty="0"/>
              <a:t>Todos </a:t>
            </a:r>
            <a:r>
              <a:rPr dirty="0" err="1"/>
              <a:t>os</a:t>
            </a:r>
            <a:r>
              <a:rPr dirty="0"/>
              <a:t> </a:t>
            </a:r>
            <a:r>
              <a:rPr dirty="0" err="1"/>
              <a:t>modelos</a:t>
            </a:r>
            <a:r>
              <a:rPr dirty="0"/>
              <a:t> </a:t>
            </a:r>
            <a:r>
              <a:rPr dirty="0" err="1"/>
              <a:t>atingem</a:t>
            </a:r>
            <a:r>
              <a:rPr dirty="0"/>
              <a:t> </a:t>
            </a:r>
            <a:r>
              <a:rPr lang="en-US" dirty="0"/>
              <a:t>+ de </a:t>
            </a:r>
            <a:r>
              <a:rPr dirty="0"/>
              <a:t>95% </a:t>
            </a:r>
            <a:r>
              <a:rPr lang="en-US" dirty="0"/>
              <a:t>no </a:t>
            </a:r>
            <a:r>
              <a:rPr lang="en-US" dirty="0" err="1"/>
              <a:t>parametro</a:t>
            </a:r>
            <a:r>
              <a:rPr lang="en-US" dirty="0"/>
              <a:t> </a:t>
            </a:r>
            <a:r>
              <a:rPr dirty="0"/>
              <a:t>F1</a:t>
            </a:r>
            <a:r>
              <a:rPr lang="en-US" dirty="0"/>
              <a:t> Macro</a:t>
            </a:r>
            <a:r>
              <a:rPr dirty="0"/>
              <a:t> no Wine dataset</a:t>
            </a:r>
          </a:p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rPr dirty="0"/>
              <a:t>    → Classes </a:t>
            </a:r>
            <a:r>
              <a:rPr dirty="0" err="1"/>
              <a:t>bem</a:t>
            </a:r>
            <a:r>
              <a:rPr dirty="0"/>
              <a:t> </a:t>
            </a:r>
            <a:r>
              <a:rPr dirty="0" err="1"/>
              <a:t>separadas</a:t>
            </a:r>
            <a:r>
              <a:rPr dirty="0"/>
              <a:t> no </a:t>
            </a:r>
            <a:r>
              <a:rPr dirty="0" err="1"/>
              <a:t>espaço</a:t>
            </a:r>
            <a:r>
              <a:rPr dirty="0"/>
              <a:t> de features</a:t>
            </a:r>
          </a:p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rPr dirty="0"/>
              <a:t>    → Dataset </a:t>
            </a:r>
            <a:r>
              <a:rPr dirty="0" err="1"/>
              <a:t>pequeno</a:t>
            </a:r>
            <a:r>
              <a:rPr dirty="0"/>
              <a:t> mas de </a:t>
            </a:r>
            <a:r>
              <a:rPr dirty="0" err="1"/>
              <a:t>alta</a:t>
            </a:r>
            <a:r>
              <a:rPr dirty="0"/>
              <a:t> </a:t>
            </a:r>
            <a:r>
              <a:rPr dirty="0" err="1"/>
              <a:t>qualidad</a:t>
            </a:r>
            <a:r>
              <a:rPr lang="en-US" dirty="0" err="1"/>
              <a:t>e</a:t>
            </a:r>
            <a:endParaRPr lang="en-US" dirty="0"/>
          </a:p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rPr lang="pt-BR" dirty="0"/>
              <a:t>    → Alguns modelos tiveram pior resultado após optimizacao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40F7B56E-ACF3-E7EA-E135-B3E009A90B8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46013709"/>
              </p:ext>
            </p:extLst>
          </p:nvPr>
        </p:nvGraphicFramePr>
        <p:xfrm>
          <a:off x="536028" y="4564117"/>
          <a:ext cx="11247120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4942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4942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4942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24942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249424">
                  <a:extLst>
                    <a:ext uri="{9D8B030D-6E8A-4147-A177-3AD203B41FA5}">
                      <a16:colId xmlns:a16="http://schemas.microsoft.com/office/drawing/2014/main" val="162998416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rPr lang="en-US" dirty="0" err="1"/>
                        <a:t>Método</a:t>
                      </a:r>
                      <a:endParaRPr dirty="0"/>
                    </a:p>
                  </a:txBody>
                  <a:tcPr>
                    <a:solidFill>
                      <a:srgbClr val="2C5F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rPr lang="en-US" dirty="0"/>
                        <a:t>Logistic</a:t>
                      </a:r>
                      <a:endParaRPr dirty="0"/>
                    </a:p>
                  </a:txBody>
                  <a:tcPr>
                    <a:solidFill>
                      <a:srgbClr val="2C5F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rPr lang="en-US" dirty="0" err="1"/>
                        <a:t>XGBoost</a:t>
                      </a:r>
                      <a:endParaRPr dirty="0"/>
                    </a:p>
                  </a:txBody>
                  <a:tcPr>
                    <a:solidFill>
                      <a:srgbClr val="2C5F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rPr lang="en-US" dirty="0" err="1"/>
                        <a:t>RandomForest</a:t>
                      </a:r>
                      <a:endParaRPr dirty="0"/>
                    </a:p>
                  </a:txBody>
                  <a:tcPr>
                    <a:solidFill>
                      <a:srgbClr val="2C5F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rPr lang="en-US" dirty="0"/>
                        <a:t>SVM</a:t>
                      </a:r>
                      <a:endParaRPr dirty="0"/>
                    </a:p>
                  </a:txBody>
                  <a:tcPr>
                    <a:solidFill>
                      <a:srgbClr val="2C5F8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rPr lang="en-US" dirty="0"/>
                        <a:t>Baseline</a:t>
                      </a:r>
                      <a:endParaRPr dirty="0"/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rPr lang="en-US" dirty="0"/>
                        <a:t>0.9710</a:t>
                      </a:r>
                      <a:endParaRPr dirty="0"/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rPr lang="en-US" dirty="0"/>
                        <a:t>1.0</a:t>
                      </a:r>
                      <a:endParaRPr dirty="0"/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rPr lang="en-US" dirty="0"/>
                        <a:t>1.0</a:t>
                      </a:r>
                      <a:endParaRPr dirty="0"/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rPr lang="en-US" dirty="0"/>
                        <a:t>0.9710</a:t>
                      </a:r>
                      <a:endParaRPr dirty="0"/>
                    </a:p>
                  </a:txBody>
                  <a:tcPr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rPr lang="en-US" dirty="0" err="1"/>
                        <a:t>Optuna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rPr lang="en-US" dirty="0"/>
                        <a:t>0.9796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rPr lang="en-US" dirty="0"/>
                        <a:t>0.9789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rPr lang="en-US" dirty="0"/>
                        <a:t>0.9789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rPr lang="en-US" dirty="0"/>
                        <a:t>0.9727</a:t>
                      </a:r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3A5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2286000"/>
            <a:ext cx="1005840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</a:defRPr>
            </a:pPr>
            <a:r>
              <a:rPr dirty="0" err="1"/>
              <a:t>Obrigado</a:t>
            </a:r>
            <a:r>
              <a:rPr lang="en-US" dirty="0"/>
              <a:t> pela </a:t>
            </a:r>
            <a:r>
              <a:rPr lang="en-US" dirty="0" err="1"/>
              <a:t>vossa</a:t>
            </a:r>
            <a:r>
              <a:rPr lang="en-US" dirty="0"/>
              <a:t> </a:t>
            </a:r>
            <a:r>
              <a:rPr lang="en-US" dirty="0" err="1"/>
              <a:t>atenção</a:t>
            </a:r>
            <a:endParaRPr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727</TotalTime>
  <Words>1925</Words>
  <Application>Microsoft Office PowerPoint</Application>
  <PresentationFormat>Widescreen</PresentationFormat>
  <Paragraphs>249</Paragraphs>
  <Slides>26</Slides>
  <Notes>10</Notes>
  <HiddenSlides>1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31" baseType="lpstr">
      <vt:lpstr>-apple-system</vt:lpstr>
      <vt:lpstr>Aptos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Luís Brás</cp:lastModifiedBy>
  <cp:revision>59</cp:revision>
  <dcterms:created xsi:type="dcterms:W3CDTF">2013-01-27T09:14:16Z</dcterms:created>
  <dcterms:modified xsi:type="dcterms:W3CDTF">2026-06-01T19:01:51Z</dcterms:modified>
  <cp:category/>
</cp:coreProperties>
</file>